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7" r:id="rId11"/>
    <p:sldId id="266" r:id="rId12"/>
    <p:sldId id="265" r:id="rId13"/>
    <p:sldId id="269" r:id="rId14"/>
    <p:sldId id="271" r:id="rId15"/>
    <p:sldId id="270" r:id="rId16"/>
  </p:sldIdLst>
  <p:sldSz cx="12192000" cy="6858000"/>
  <p:notesSz cx="6858000" cy="12192000"/>
  <p:embeddedFontLst>
    <p:embeddedFont>
      <p:font typeface="Geist" pitchFamily="50" charset="0"/>
      <p:regular r:id="rId18"/>
    </p:embeddedFont>
    <p:embeddedFont>
      <p:font typeface="Geist Bold" pitchFamily="50" charset="0"/>
      <p:bold r:id="rId19"/>
    </p:embeddedFont>
    <p:embeddedFont>
      <p:font typeface="Geist Medium" pitchFamily="50" charset="0"/>
      <p:regular r:id="rId20"/>
    </p:embeddedFont>
    <p:embeddedFont>
      <p:font typeface="Geist Mono" panose="020B0604020202020204" charset="0"/>
      <p:regular r:id="rId21"/>
    </p:embeddedFont>
    <p:embeddedFont>
      <p:font typeface="Geist Mono Medium" panose="020B0604020202020204" charset="0"/>
      <p:regular r:id="rId22"/>
    </p:embeddedFont>
    <p:embeddedFont>
      <p:font typeface="Geist SemiBold" pitchFamily="50" charset="0"/>
      <p:bold r:id="rId23"/>
    </p:embeddedFont>
    <p:embeddedFont>
      <p:font typeface="Segoe UI" panose="020B0502040204020203" pitchFamily="34" charset="0"/>
      <p:regular r:id="rId24"/>
      <p:bold r:id="rId25"/>
      <p:italic r:id="rId26"/>
      <p:boldItalic r:id="rId2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5A64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 manikandan" userId="c8c0d0a8781a206f" providerId="LiveId" clId="{86A15DFD-6C00-405E-A958-D19A4C5314BB}"/>
    <pc:docChg chg="modSld">
      <pc:chgData name="s manikandan" userId="c8c0d0a8781a206f" providerId="LiveId" clId="{86A15DFD-6C00-405E-A958-D19A4C5314BB}" dt="2026-10-29T17:26:47.253" v="14" actId="1076"/>
      <pc:docMkLst>
        <pc:docMk/>
      </pc:docMkLst>
      <pc:sldChg chg="modSp mod">
        <pc:chgData name="s manikandan" userId="c8c0d0a8781a206f" providerId="LiveId" clId="{86A15DFD-6C00-405E-A958-D19A4C5314BB}" dt="2026-10-29T17:16:25.935" v="0" actId="13926"/>
        <pc:sldMkLst>
          <pc:docMk/>
          <pc:sldMk cId="0" sldId="262"/>
        </pc:sldMkLst>
        <pc:spChg chg="mod">
          <ac:chgData name="s manikandan" userId="c8c0d0a8781a206f" providerId="LiveId" clId="{86A15DFD-6C00-405E-A958-D19A4C5314BB}" dt="2026-10-29T17:16:25.935" v="0" actId="13926"/>
          <ac:spMkLst>
            <pc:docMk/>
            <pc:sldMk cId="0" sldId="262"/>
            <ac:spMk id="3" creationId="{00000000-0000-0000-0000-000000000000}"/>
          </ac:spMkLst>
        </pc:spChg>
      </pc:sldChg>
      <pc:sldChg chg="modSp mod">
        <pc:chgData name="s manikandan" userId="c8c0d0a8781a206f" providerId="LiveId" clId="{86A15DFD-6C00-405E-A958-D19A4C5314BB}" dt="2026-10-29T17:26:47.253" v="14" actId="1076"/>
        <pc:sldMkLst>
          <pc:docMk/>
          <pc:sldMk cId="3166185698" sldId="270"/>
        </pc:sldMkLst>
        <pc:spChg chg="mod">
          <ac:chgData name="s manikandan" userId="c8c0d0a8781a206f" providerId="LiveId" clId="{86A15DFD-6C00-405E-A958-D19A4C5314BB}" dt="2026-10-29T17:26:47.253" v="14" actId="1076"/>
          <ac:spMkLst>
            <pc:docMk/>
            <pc:sldMk cId="3166185698" sldId="270"/>
            <ac:spMk id="11" creationId="{54935E8A-6E99-F0BE-45AC-4C6D56CF5705}"/>
          </ac:spMkLst>
        </pc:spChg>
        <pc:spChg chg="mod">
          <ac:chgData name="s manikandan" userId="c8c0d0a8781a206f" providerId="LiveId" clId="{86A15DFD-6C00-405E-A958-D19A4C5314BB}" dt="2026-10-29T17:26:44.103" v="13" actId="1076"/>
          <ac:spMkLst>
            <pc:docMk/>
            <pc:sldMk cId="3166185698" sldId="270"/>
            <ac:spMk id="12" creationId="{6B8DA296-D80F-7C90-655E-ADBB1B248D08}"/>
          </ac:spMkLst>
        </pc:spChg>
        <pc:spChg chg="mod">
          <ac:chgData name="s manikandan" userId="c8c0d0a8781a206f" providerId="LiveId" clId="{86A15DFD-6C00-405E-A958-D19A4C5314BB}" dt="2026-10-29T17:26:39.117" v="12" actId="1076"/>
          <ac:spMkLst>
            <pc:docMk/>
            <pc:sldMk cId="3166185698" sldId="270"/>
            <ac:spMk id="14" creationId="{E9C8A952-6FED-7F2A-02DB-9F29B24FA5A9}"/>
          </ac:spMkLst>
        </pc:spChg>
        <pc:spChg chg="mod">
          <ac:chgData name="s manikandan" userId="c8c0d0a8781a206f" providerId="LiveId" clId="{86A15DFD-6C00-405E-A958-D19A4C5314BB}" dt="2026-10-29T17:26:33.617" v="11" actId="1076"/>
          <ac:spMkLst>
            <pc:docMk/>
            <pc:sldMk cId="3166185698" sldId="270"/>
            <ac:spMk id="15" creationId="{9752727A-C44B-832A-2BE8-102475540611}"/>
          </ac:spMkLst>
        </pc:spChg>
        <pc:picChg chg="mod">
          <ac:chgData name="s manikandan" userId="c8c0d0a8781a206f" providerId="LiveId" clId="{86A15DFD-6C00-405E-A958-D19A4C5314BB}" dt="2026-10-29T17:25:50.211" v="2" actId="14100"/>
          <ac:picMkLst>
            <pc:docMk/>
            <pc:sldMk cId="3166185698" sldId="270"/>
            <ac:picMk id="17" creationId="{508B13A9-2D6F-5273-ED1A-62A2A6D73706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67925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B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FB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3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5631" y="1048385"/>
            <a:ext cx="5092573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100" spc="110" dirty="0">
                <a:solidFill>
                  <a:srgbClr val="625950"/>
                </a:solidFill>
                <a:latin typeface="Geist Mono Medium" pitchFamily="34" charset="0"/>
                <a:ea typeface="Geist Mono Medium" pitchFamily="34" charset="-122"/>
                <a:cs typeface="Geist Mono Medium" pitchFamily="34" charset="0"/>
              </a:rPr>
              <a:t>SMK MANUFACTURING ANALYTICS DASHBOARD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55631" y="1353526"/>
            <a:ext cx="4482988" cy="2279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4400" kern="100" spc="-132" dirty="0">
                <a:solidFill>
                  <a:srgbClr val="1E1A17"/>
                </a:solidFill>
                <a:latin typeface="Geist Medium" pitchFamily="34" charset="0"/>
                <a:ea typeface="Geist Medium" pitchFamily="34" charset="-122"/>
                <a:cs typeface="Geist Medium" pitchFamily="34" charset="0"/>
              </a:rPr>
              <a:t>SMK Manufacturing Analytics Dashboard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755631" y="3797895"/>
            <a:ext cx="1479215" cy="19050"/>
          </a:xfrm>
          <a:prstGeom prst="roundRect">
            <a:avLst>
              <a:gd name="adj" fmla="val 49999"/>
            </a:avLst>
          </a:prstGeom>
          <a:solidFill>
            <a:srgbClr val="D8CBBA"/>
          </a:solidFill>
          <a:ln/>
        </p:spPr>
      </p:sp>
      <p:sp>
        <p:nvSpPr>
          <p:cNvPr id="5" name="Text 3"/>
          <p:cNvSpPr/>
          <p:nvPr/>
        </p:nvSpPr>
        <p:spPr>
          <a:xfrm>
            <a:off x="755631" y="4020145"/>
            <a:ext cx="5092573" cy="313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3A332D"/>
                </a:solidFill>
                <a:latin typeface="Geist" pitchFamily="34" charset="0"/>
                <a:ea typeface="Geist" pitchFamily="34" charset="-122"/>
                <a:cs typeface="Geist" pitchFamily="34" charset="0"/>
              </a:rPr>
              <a:t>End-to-End Manufacturing Analytics Solution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55631" y="4498915"/>
            <a:ext cx="5092573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100" spc="110" dirty="0">
                <a:solidFill>
                  <a:srgbClr val="625950"/>
                </a:solidFill>
                <a:latin typeface="Geist Mono Medium" pitchFamily="34" charset="0"/>
                <a:ea typeface="Geist Mono Medium" pitchFamily="34" charset="-122"/>
                <a:cs typeface="Geist Mono Medium" pitchFamily="34" charset="0"/>
              </a:rPr>
              <a:t>PREPARED BY: S.MANIKANDAN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55631" y="4833203"/>
            <a:ext cx="5092573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200" dirty="0">
                <a:solidFill>
                  <a:srgbClr val="625950"/>
                </a:solidFill>
                <a:latin typeface="Geist" pitchFamily="34" charset="0"/>
                <a:ea typeface="Geist" pitchFamily="34" charset="-122"/>
                <a:cs typeface="Geist" pitchFamily="34" charset="0"/>
              </a:rPr>
              <a:t>Snowflake · SQL · Power BI · DAX · Dynamic RLS</a:t>
            </a:r>
            <a:endParaRPr lang="en-US" sz="12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B0E82FB-3E1E-E30F-2ABC-5985AF53E3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4557" y="6553174"/>
            <a:ext cx="1417443" cy="30482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543364"/>
            <a:ext cx="11582110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100" spc="88" dirty="0">
                <a:solidFill>
                  <a:srgbClr val="625950"/>
                </a:solidFill>
                <a:latin typeface="Geist Mono Medium" pitchFamily="34" charset="0"/>
                <a:ea typeface="Geist Mono Medium" pitchFamily="34" charset="-122"/>
                <a:cs typeface="Geist Mono Medium" pitchFamily="34" charset="0"/>
              </a:rPr>
              <a:t>SMK MANUFACTURING ANALYTICS DASHBOARD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14227" y="1064127"/>
            <a:ext cx="10972526" cy="569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3200" dirty="0"/>
              <a:t>Project Overview</a:t>
            </a:r>
          </a:p>
        </p:txBody>
      </p:sp>
      <p:sp>
        <p:nvSpPr>
          <p:cNvPr id="4" name="Text 2"/>
          <p:cNvSpPr/>
          <p:nvPr/>
        </p:nvSpPr>
        <p:spPr>
          <a:xfrm>
            <a:off x="609585" y="1640972"/>
            <a:ext cx="10353884" cy="1377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00000"/>
              </a:lnSpc>
            </a:pPr>
            <a:r>
              <a:rPr lang="en-IN" dirty="0">
                <a:latin typeface="Geist Mono" panose="020B0604020202020204" charset="0"/>
                <a:ea typeface="Geist Mono" panose="020B0604020202020204" charset="0"/>
                <a:cs typeface="Geist Mono" panose="020B0604020202020204" charset="0"/>
              </a:rPr>
              <a:t>The </a:t>
            </a:r>
            <a:r>
              <a:rPr lang="en-IN" b="1" dirty="0">
                <a:latin typeface="Geist SemiBold" charset="0"/>
                <a:ea typeface="Geist SemiBold" charset="0"/>
                <a:cs typeface="Geist SemiBold" charset="0"/>
              </a:rPr>
              <a:t>SMK Manufacturing Analytics Dashboard</a:t>
            </a:r>
            <a:r>
              <a:rPr lang="en-IN" dirty="0">
                <a:latin typeface="Geist SemiBold" charset="0"/>
                <a:ea typeface="Geist SemiBold" charset="0"/>
                <a:cs typeface="Geist SemiBold" charset="0"/>
              </a:rPr>
              <a:t> </a:t>
            </a:r>
            <a:r>
              <a:rPr lang="en-IN" dirty="0">
                <a:latin typeface="Geist Mono" panose="020B0604020202020204" charset="0"/>
                <a:ea typeface="Geist Mono" panose="020B0604020202020204" charset="0"/>
                <a:cs typeface="Geist Mono" panose="020B0604020202020204" charset="0"/>
              </a:rPr>
              <a:t>is an end-to-end </a:t>
            </a:r>
            <a:r>
              <a:rPr lang="en-IN" b="1" dirty="0">
                <a:latin typeface="Geist SemiBold" charset="0"/>
                <a:ea typeface="Geist SemiBold" charset="0"/>
                <a:cs typeface="Geist SemiBold" charset="0"/>
              </a:rPr>
              <a:t>Business Intelligence</a:t>
            </a:r>
            <a:r>
              <a:rPr lang="en-IN" b="1" dirty="0">
                <a:latin typeface="Geist Mono" panose="020B0604020202020204" charset="0"/>
                <a:ea typeface="Geist Mono" panose="020B0604020202020204" charset="0"/>
                <a:cs typeface="Geist Mono" panose="020B0604020202020204" charset="0"/>
              </a:rPr>
              <a:t> </a:t>
            </a:r>
            <a:r>
              <a:rPr lang="en-IN" b="1" dirty="0">
                <a:latin typeface="Geist SemiBold" charset="0"/>
                <a:ea typeface="Geist SemiBold" charset="0"/>
                <a:cs typeface="Geist SemiBold" charset="0"/>
              </a:rPr>
              <a:t>solution</a:t>
            </a:r>
            <a:r>
              <a:rPr lang="en-IN" dirty="0">
                <a:latin typeface="Geist Mono" panose="020B0604020202020204" charset="0"/>
                <a:ea typeface="Geist Mono" panose="020B0604020202020204" charset="0"/>
                <a:cs typeface="Geist Mono" panose="020B0604020202020204" charset="0"/>
              </a:rPr>
              <a:t> designed to monitor </a:t>
            </a:r>
            <a:r>
              <a:rPr lang="en-IN" b="1" dirty="0">
                <a:latin typeface="Geist SemiBold" charset="0"/>
                <a:ea typeface="Geist SemiBold" charset="0"/>
                <a:cs typeface="Geist SemiBold" charset="0"/>
              </a:rPr>
              <a:t>Production, Quality, Downtime, Maintenance, and Machine Performance</a:t>
            </a:r>
            <a:r>
              <a:rPr lang="en-IN" dirty="0">
                <a:latin typeface="Geist SemiBold" charset="0"/>
                <a:ea typeface="Geist SemiBold" charset="0"/>
                <a:cs typeface="Geist SemiBold" charset="0"/>
              </a:rPr>
              <a:t> </a:t>
            </a:r>
            <a:r>
              <a:rPr lang="en-IN" dirty="0">
                <a:latin typeface="Geist Mono" panose="020B0604020202020204" charset="0"/>
                <a:ea typeface="Geist Mono" panose="020B0604020202020204" charset="0"/>
                <a:cs typeface="Geist Mono" panose="020B0604020202020204" charset="0"/>
              </a:rPr>
              <a:t>across manufacturing plants.</a:t>
            </a:r>
          </a:p>
          <a:p>
            <a:pPr marL="0" indent="0" algn="l">
              <a:lnSpc>
                <a:spcPct val="121000"/>
              </a:lnSpc>
              <a:buNone/>
            </a:pPr>
            <a:endParaRPr lang="en-US" sz="1700" spc="300" dirty="0">
              <a:latin typeface="Geist Mono" panose="020B0604020202020204" charset="0"/>
              <a:ea typeface="Geist Mono" panose="020B0604020202020204" charset="0"/>
              <a:cs typeface="Geist Mono" panose="020B060402020202020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1228531" y="2994011"/>
            <a:ext cx="6744161" cy="1483816"/>
          </a:xfrm>
          <a:prstGeom prst="roundRect">
            <a:avLst>
              <a:gd name="adj" fmla="val 1797"/>
            </a:avLst>
          </a:prstGeom>
          <a:solidFill>
            <a:srgbClr val="EFE4D4"/>
          </a:solidFill>
          <a:ln/>
        </p:spPr>
      </p:sp>
      <p:sp>
        <p:nvSpPr>
          <p:cNvPr id="6" name="Text 4"/>
          <p:cNvSpPr/>
          <p:nvPr/>
        </p:nvSpPr>
        <p:spPr>
          <a:xfrm>
            <a:off x="1479918" y="3160317"/>
            <a:ext cx="4104577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100" spc="88" dirty="0">
                <a:solidFill>
                  <a:srgbClr val="3A332D"/>
                </a:solidFill>
                <a:latin typeface="Geist Mono Medium" pitchFamily="34" charset="0"/>
                <a:ea typeface="Geist Mono Medium" pitchFamily="34" charset="-122"/>
                <a:cs typeface="Geist Mono Medium" pitchFamily="34" charset="0"/>
              </a:rPr>
              <a:t>GOAL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574740" y="3403393"/>
            <a:ext cx="6397952" cy="715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IN" dirty="0">
                <a:latin typeface="Geist SemiBold" charset="0"/>
                <a:ea typeface="Geist SemiBold" charset="0"/>
                <a:cs typeface="Geist SemiBold" charset="0"/>
              </a:rPr>
              <a:t>Enable data-driven decision making through centralized KPI monitoring and operational insights.</a:t>
            </a:r>
          </a:p>
          <a:p>
            <a:pPr marL="0" indent="0" algn="l">
              <a:lnSpc>
                <a:spcPct val="100000"/>
              </a:lnSpc>
              <a:buNone/>
            </a:pPr>
            <a:endParaRPr lang="en-US" sz="1700" dirty="0">
              <a:latin typeface="Geist SemiBold" charset="0"/>
              <a:ea typeface="Geist SemiBold" charset="0"/>
              <a:cs typeface="Geist SemiBold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1210049" y="6456462"/>
            <a:ext cx="791051" cy="193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21000"/>
              </a:lnSpc>
              <a:buNone/>
            </a:pPr>
            <a:r>
              <a:rPr lang="en-US" sz="1050" kern="100" spc="84" dirty="0">
                <a:solidFill>
                  <a:srgbClr val="625950"/>
                </a:solidFill>
                <a:latin typeface="Geist Mono" pitchFamily="34" charset="0"/>
                <a:ea typeface="Geist Mono" pitchFamily="34" charset="-122"/>
                <a:cs typeface="Geist Mono" pitchFamily="34" charset="0"/>
              </a:rPr>
              <a:t>02</a:t>
            </a:r>
            <a:endParaRPr lang="en-US" sz="1050" dirty="0"/>
          </a:p>
        </p:txBody>
      </p:sp>
      <p:sp>
        <p:nvSpPr>
          <p:cNvPr id="10" name="Text 17">
            <a:extLst>
              <a:ext uri="{FF2B5EF4-FFF2-40B4-BE49-F238E27FC236}">
                <a16:creationId xmlns:a16="http://schemas.microsoft.com/office/drawing/2014/main" id="{1805DE2C-1752-0E2E-B4C7-E34ECD4CF3D1}"/>
              </a:ext>
            </a:extLst>
          </p:cNvPr>
          <p:cNvSpPr/>
          <p:nvPr/>
        </p:nvSpPr>
        <p:spPr>
          <a:xfrm>
            <a:off x="11103188" y="6048137"/>
            <a:ext cx="791051" cy="193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21000"/>
              </a:lnSpc>
              <a:buNone/>
            </a:pPr>
            <a:r>
              <a:rPr lang="en-US" sz="1050" kern="100" spc="84" dirty="0">
                <a:solidFill>
                  <a:srgbClr val="625950"/>
                </a:solidFill>
                <a:latin typeface="Geist Mono" pitchFamily="34" charset="0"/>
                <a:ea typeface="Geist Mono" pitchFamily="34" charset="-122"/>
                <a:cs typeface="Geist Mono" pitchFamily="34" charset="0"/>
              </a:rPr>
              <a:t>02</a:t>
            </a:r>
            <a:endParaRPr lang="en-US" sz="105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D1CE002-2659-4013-B322-A667F37A82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07159" y="6248347"/>
            <a:ext cx="1699407" cy="60965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4456" y="616585"/>
            <a:ext cx="11582110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IN" sz="1400" dirty="0">
                <a:latin typeface="Geist Mono" panose="020B0604020202020204" charset="0"/>
                <a:ea typeface="Geist Mono" panose="020B0604020202020204" charset="0"/>
                <a:cs typeface="Geist Mono" panose="020B0604020202020204" charset="0"/>
              </a:rPr>
              <a:t>Business Problem</a:t>
            </a:r>
          </a:p>
          <a:p>
            <a:pPr marL="0" indent="0" algn="l">
              <a:lnSpc>
                <a:spcPct val="108000"/>
              </a:lnSpc>
              <a:buNone/>
            </a:pPr>
            <a:endParaRPr lang="en-US" sz="1000" dirty="0">
              <a:latin typeface="Geist Mono" panose="020B0604020202020204" charset="0"/>
              <a:ea typeface="Geist Mono" panose="020B0604020202020204" charset="0"/>
              <a:cs typeface="Geist Mono" panose="020B060402020202020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09585" y="902059"/>
            <a:ext cx="10972526" cy="466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400" kern="100" spc="-85" dirty="0">
                <a:solidFill>
                  <a:srgbClr val="1E1A17"/>
                </a:solidFill>
                <a:latin typeface="Geist Medium" pitchFamily="34" charset="0"/>
                <a:ea typeface="Geist Medium" pitchFamily="34" charset="-122"/>
                <a:cs typeface="Geist Medium" pitchFamily="34" charset="0"/>
              </a:rPr>
              <a:t>Fragmented reporting hides operational risk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09585" y="1695221"/>
            <a:ext cx="5486263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dirty="0">
                <a:solidFill>
                  <a:srgbClr val="1E1A17"/>
                </a:solidFill>
                <a:latin typeface="Geist SemiBold" pitchFamily="34" charset="0"/>
                <a:ea typeface="Geist SemiBold" pitchFamily="34" charset="-122"/>
                <a:cs typeface="Geist SemiBold" pitchFamily="34" charset="0"/>
              </a:rPr>
              <a:t>Lack of centralized reporting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09585" y="2298799"/>
            <a:ext cx="5486263" cy="9624"/>
          </a:xfrm>
          <a:prstGeom prst="roundRect">
            <a:avLst>
              <a:gd name="adj" fmla="val 50000"/>
            </a:avLst>
          </a:prstGeom>
          <a:solidFill>
            <a:srgbClr val="D8CBBA"/>
          </a:solidFill>
          <a:ln/>
        </p:spPr>
      </p:sp>
      <p:sp>
        <p:nvSpPr>
          <p:cNvPr id="6" name="Text 4"/>
          <p:cNvSpPr/>
          <p:nvPr/>
        </p:nvSpPr>
        <p:spPr>
          <a:xfrm>
            <a:off x="609585" y="2693957"/>
            <a:ext cx="5486263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dirty="0">
                <a:solidFill>
                  <a:srgbClr val="1E1A17"/>
                </a:solidFill>
                <a:latin typeface="Geist SemiBold" pitchFamily="34" charset="0"/>
                <a:ea typeface="Geist SemiBold" pitchFamily="34" charset="-122"/>
                <a:cs typeface="Geist SemiBold" pitchFamily="34" charset="0"/>
              </a:rPr>
              <a:t>Production target tracking difficulties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09585" y="3297634"/>
            <a:ext cx="5486263" cy="9624"/>
          </a:xfrm>
          <a:prstGeom prst="roundRect">
            <a:avLst>
              <a:gd name="adj" fmla="val 50000"/>
            </a:avLst>
          </a:prstGeom>
          <a:solidFill>
            <a:srgbClr val="D8CBBA"/>
          </a:solidFill>
          <a:ln/>
        </p:spPr>
      </p:sp>
      <p:sp>
        <p:nvSpPr>
          <p:cNvPr id="8" name="Text 6"/>
          <p:cNvSpPr/>
          <p:nvPr/>
        </p:nvSpPr>
        <p:spPr>
          <a:xfrm>
            <a:off x="609585" y="3692792"/>
            <a:ext cx="5486263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dirty="0">
                <a:solidFill>
                  <a:srgbClr val="1E1A17"/>
                </a:solidFill>
                <a:latin typeface="Geist SemiBold" pitchFamily="34" charset="0"/>
                <a:ea typeface="Geist SemiBold" pitchFamily="34" charset="-122"/>
                <a:cs typeface="Geist SemiBold" pitchFamily="34" charset="0"/>
              </a:rPr>
              <a:t>High defect rates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09585" y="4296470"/>
            <a:ext cx="5486263" cy="9624"/>
          </a:xfrm>
          <a:prstGeom prst="roundRect">
            <a:avLst>
              <a:gd name="adj" fmla="val 50000"/>
            </a:avLst>
          </a:prstGeom>
          <a:solidFill>
            <a:srgbClr val="D8CBBA"/>
          </a:solidFill>
          <a:ln/>
        </p:spPr>
      </p:sp>
      <p:sp>
        <p:nvSpPr>
          <p:cNvPr id="10" name="Text 8"/>
          <p:cNvSpPr/>
          <p:nvPr/>
        </p:nvSpPr>
        <p:spPr>
          <a:xfrm>
            <a:off x="609585" y="4691627"/>
            <a:ext cx="5486263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dirty="0">
                <a:solidFill>
                  <a:srgbClr val="1E1A17"/>
                </a:solidFill>
                <a:latin typeface="Geist SemiBold" pitchFamily="34" charset="0"/>
                <a:ea typeface="Geist SemiBold" pitchFamily="34" charset="-122"/>
                <a:cs typeface="Geist SemiBold" pitchFamily="34" charset="0"/>
              </a:rPr>
              <a:t>Downtime monitoring issues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09585" y="5295503"/>
            <a:ext cx="5486263" cy="9624"/>
          </a:xfrm>
          <a:prstGeom prst="roundRect">
            <a:avLst>
              <a:gd name="adj" fmla="val 50000"/>
            </a:avLst>
          </a:prstGeom>
          <a:solidFill>
            <a:srgbClr val="D8CBBA"/>
          </a:solidFill>
          <a:ln/>
        </p:spPr>
      </p:sp>
      <p:sp>
        <p:nvSpPr>
          <p:cNvPr id="12" name="Text 10"/>
          <p:cNvSpPr/>
          <p:nvPr/>
        </p:nvSpPr>
        <p:spPr>
          <a:xfrm>
            <a:off x="609585" y="5690661"/>
            <a:ext cx="5486263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dirty="0">
                <a:solidFill>
                  <a:srgbClr val="1E1A17"/>
                </a:solidFill>
                <a:latin typeface="Geist SemiBold" pitchFamily="34" charset="0"/>
                <a:ea typeface="Geist SemiBold" pitchFamily="34" charset="-122"/>
                <a:cs typeface="Geist SemiBold" pitchFamily="34" charset="0"/>
              </a:rPr>
              <a:t>Maintenance cost visibility challenges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090986" y="1507927"/>
            <a:ext cx="9624" cy="4588073"/>
          </a:xfrm>
          <a:prstGeom prst="roundRect">
            <a:avLst>
              <a:gd name="adj" fmla="val 50000"/>
            </a:avLst>
          </a:prstGeom>
          <a:solidFill>
            <a:srgbClr val="D8CBBA"/>
          </a:solidFill>
          <a:ln/>
        </p:spPr>
      </p:sp>
      <p:sp>
        <p:nvSpPr>
          <p:cNvPr id="14" name="Shape 12"/>
          <p:cNvSpPr/>
          <p:nvPr/>
        </p:nvSpPr>
        <p:spPr>
          <a:xfrm>
            <a:off x="6095848" y="1507927"/>
            <a:ext cx="5486263" cy="4588073"/>
          </a:xfrm>
          <a:prstGeom prst="roundRect">
            <a:avLst>
              <a:gd name="adj" fmla="val 581"/>
            </a:avLst>
          </a:prstGeom>
          <a:solidFill>
            <a:srgbClr val="EFE4D4"/>
          </a:solidFill>
          <a:ln/>
        </p:spPr>
      </p:sp>
      <p:sp>
        <p:nvSpPr>
          <p:cNvPr id="15" name="Text 13"/>
          <p:cNvSpPr/>
          <p:nvPr/>
        </p:nvSpPr>
        <p:spPr>
          <a:xfrm>
            <a:off x="6553036" y="2279755"/>
            <a:ext cx="5181570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100" spc="88" dirty="0">
                <a:solidFill>
                  <a:srgbClr val="3A332D"/>
                </a:solidFill>
                <a:latin typeface="Geist Mono Medium" pitchFamily="34" charset="0"/>
                <a:ea typeface="Geist Mono Medium" pitchFamily="34" charset="-122"/>
                <a:cs typeface="Geist Mono Medium" pitchFamily="34" charset="0"/>
              </a:rPr>
              <a:t>SOLUTION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553036" y="2591075"/>
            <a:ext cx="4571985" cy="62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00000"/>
              </a:lnSpc>
            </a:pPr>
            <a:r>
              <a:rPr lang="en-IN" dirty="0">
                <a:latin typeface="Geist" charset="0"/>
                <a:ea typeface="Geist" charset="0"/>
                <a:cs typeface="Geist" charset="0"/>
              </a:rPr>
              <a:t>Power BI Analytics solution powered by Snowflake and secured with Dynamic RLS.</a:t>
            </a:r>
          </a:p>
          <a:p>
            <a:pPr marL="0" indent="0" algn="l">
              <a:lnSpc>
                <a:spcPct val="121000"/>
              </a:lnSpc>
              <a:buNone/>
            </a:pPr>
            <a:endParaRPr lang="en-US" sz="1700" dirty="0">
              <a:latin typeface="Geist" charset="0"/>
              <a:ea typeface="Geist" charset="0"/>
              <a:cs typeface="Geist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1210049" y="6456462"/>
            <a:ext cx="791051" cy="193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21000"/>
              </a:lnSpc>
              <a:buNone/>
            </a:pPr>
            <a:r>
              <a:rPr lang="en-US" sz="1050" kern="100" spc="84" dirty="0">
                <a:solidFill>
                  <a:srgbClr val="625950"/>
                </a:solidFill>
                <a:latin typeface="Geist Mono" pitchFamily="34" charset="0"/>
                <a:ea typeface="Geist Mono" pitchFamily="34" charset="-122"/>
                <a:cs typeface="Geist Mono" pitchFamily="34" charset="0"/>
              </a:rPr>
              <a:t>03</a:t>
            </a:r>
            <a:endParaRPr lang="en-US" sz="105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79BE14C6-93DC-A9CC-0343-27DBDD3E33A9}"/>
              </a:ext>
            </a:extLst>
          </p:cNvPr>
          <p:cNvSpPr/>
          <p:nvPr/>
        </p:nvSpPr>
        <p:spPr>
          <a:xfrm>
            <a:off x="11103188" y="6048137"/>
            <a:ext cx="791051" cy="193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21000"/>
              </a:lnSpc>
              <a:buNone/>
            </a:pPr>
            <a:r>
              <a:rPr lang="en-US" sz="1050" kern="100" spc="84" dirty="0">
                <a:solidFill>
                  <a:srgbClr val="625950"/>
                </a:solidFill>
                <a:latin typeface="Geist Mono" pitchFamily="34" charset="0"/>
                <a:ea typeface="Geist Mono" pitchFamily="34" charset="-122"/>
                <a:cs typeface="Geist Mono" pitchFamily="34" charset="0"/>
              </a:rPr>
              <a:t>03</a:t>
            </a:r>
            <a:endParaRPr lang="en-US" sz="105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9B9665B3-99EB-81FD-40C8-A6ED8DCE31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07159" y="6248347"/>
            <a:ext cx="1699407" cy="609653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E918F586-9DDC-B25E-EF16-E87623178F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8274" y="3189497"/>
            <a:ext cx="4571985" cy="252507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6585"/>
            <a:ext cx="11582110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IN" sz="1200" dirty="0">
                <a:latin typeface="Geist Mono Medium" panose="020B0604020202020204" charset="0"/>
                <a:ea typeface="Geist Mono Medium" panose="020B0604020202020204" charset="0"/>
                <a:cs typeface="Geist Mono Medium" panose="020B0604020202020204" charset="0"/>
              </a:rPr>
              <a:t>Project Objectives</a:t>
            </a:r>
            <a:endParaRPr lang="en-IN" dirty="0">
              <a:latin typeface="Geist Mono Medium" panose="020B0604020202020204" charset="0"/>
              <a:ea typeface="Geist Mono Medium" panose="020B0604020202020204" charset="0"/>
              <a:cs typeface="Geist Mono Medium" panose="020B0604020202020204" charset="0"/>
            </a:endParaRPr>
          </a:p>
          <a:p>
            <a:pPr marL="0" indent="0" algn="l">
              <a:lnSpc>
                <a:spcPct val="108000"/>
              </a:lnSpc>
              <a:buNone/>
            </a:pP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902059"/>
            <a:ext cx="10972526" cy="466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400" kern="100" spc="-85" dirty="0">
                <a:solidFill>
                  <a:srgbClr val="1E1A17"/>
                </a:solidFill>
                <a:latin typeface="Geist Medium" pitchFamily="34" charset="0"/>
                <a:ea typeface="Geist Medium" pitchFamily="34" charset="-122"/>
                <a:cs typeface="Geist Medium" pitchFamily="34" charset="0"/>
              </a:rPr>
              <a:t>The solution is built around six operating objectives</a:t>
            </a:r>
            <a:endParaRPr lang="en-US" sz="3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0958" y="1893481"/>
            <a:ext cx="880358" cy="8803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15776" y="2784057"/>
            <a:ext cx="345431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dirty="0">
                <a:solidFill>
                  <a:srgbClr val="1E1A17"/>
                </a:solidFill>
                <a:latin typeface="Geist SemiBold" pitchFamily="34" charset="0"/>
                <a:ea typeface="Geist SemiBold" pitchFamily="34" charset="-122"/>
                <a:cs typeface="Geist SemiBold" pitchFamily="34" charset="0"/>
              </a:rPr>
              <a:t>Production Monitoring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4262132" y="1507927"/>
            <a:ext cx="9624" cy="2300089"/>
          </a:xfrm>
          <a:prstGeom prst="roundRect">
            <a:avLst>
              <a:gd name="adj" fmla="val 50000"/>
            </a:avLst>
          </a:prstGeom>
          <a:solidFill>
            <a:srgbClr val="D8CBBA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8833" y="1992034"/>
            <a:ext cx="781808" cy="78182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001935" y="2784057"/>
            <a:ext cx="325121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dirty="0">
                <a:solidFill>
                  <a:srgbClr val="1E1A17"/>
                </a:solidFill>
                <a:latin typeface="Geist SemiBold" pitchFamily="34" charset="0"/>
                <a:ea typeface="Geist SemiBold" pitchFamily="34" charset="-122"/>
                <a:cs typeface="Geist SemiBold" pitchFamily="34" charset="0"/>
              </a:rPr>
              <a:t>Quality Monitoring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7919740" y="1507927"/>
            <a:ext cx="9624" cy="2300089"/>
          </a:xfrm>
          <a:prstGeom prst="roundRect">
            <a:avLst>
              <a:gd name="adj" fmla="val 50000"/>
            </a:avLst>
          </a:prstGeom>
          <a:solidFill>
            <a:srgbClr val="D8CBBA"/>
          </a:solidFill>
          <a:ln/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03056" y="2026608"/>
            <a:ext cx="747234" cy="74725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784998" y="2792367"/>
            <a:ext cx="345431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dirty="0">
                <a:solidFill>
                  <a:srgbClr val="1E1A17"/>
                </a:solidFill>
                <a:latin typeface="Geist SemiBold" pitchFamily="34" charset="0"/>
                <a:ea typeface="Geist SemiBold" pitchFamily="34" charset="-122"/>
                <a:cs typeface="Geist SemiBold" pitchFamily="34" charset="0"/>
              </a:rPr>
              <a:t>Downtime Tracking</a:t>
            </a:r>
            <a:endParaRPr lang="en-US" sz="1500" dirty="0"/>
          </a:p>
        </p:txBody>
      </p:sp>
      <p:sp>
        <p:nvSpPr>
          <p:cNvPr id="12" name="Shape 7"/>
          <p:cNvSpPr/>
          <p:nvPr/>
        </p:nvSpPr>
        <p:spPr>
          <a:xfrm>
            <a:off x="609585" y="3797300"/>
            <a:ext cx="3663461" cy="9624"/>
          </a:xfrm>
          <a:prstGeom prst="roundRect">
            <a:avLst>
              <a:gd name="adj" fmla="val 50000"/>
            </a:avLst>
          </a:prstGeom>
          <a:solidFill>
            <a:srgbClr val="D8CBBA"/>
          </a:solidFill>
          <a:ln/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18087" y="4372042"/>
            <a:ext cx="742634" cy="74265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15776" y="5203379"/>
            <a:ext cx="345431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dirty="0">
                <a:solidFill>
                  <a:srgbClr val="1E1A17"/>
                </a:solidFill>
                <a:latin typeface="Geist SemiBold" pitchFamily="34" charset="0"/>
                <a:ea typeface="Geist SemiBold" pitchFamily="34" charset="-122"/>
                <a:cs typeface="Geist SemiBold" pitchFamily="34" charset="0"/>
              </a:rPr>
              <a:t>Maintenance Analysis</a:t>
            </a:r>
            <a:endParaRPr lang="en-US" sz="1500" dirty="0"/>
          </a:p>
        </p:txBody>
      </p:sp>
      <p:sp>
        <p:nvSpPr>
          <p:cNvPr id="15" name="Shape 9"/>
          <p:cNvSpPr/>
          <p:nvPr/>
        </p:nvSpPr>
        <p:spPr>
          <a:xfrm>
            <a:off x="4262132" y="3796010"/>
            <a:ext cx="9624" cy="2300089"/>
          </a:xfrm>
          <a:prstGeom prst="roundRect">
            <a:avLst>
              <a:gd name="adj" fmla="val 50000"/>
            </a:avLst>
          </a:prstGeom>
          <a:solidFill>
            <a:srgbClr val="D8CBBA"/>
          </a:solidFill>
          <a:ln/>
        </p:spPr>
      </p:sp>
      <p:sp>
        <p:nvSpPr>
          <p:cNvPr id="16" name="Shape 10"/>
          <p:cNvSpPr/>
          <p:nvPr/>
        </p:nvSpPr>
        <p:spPr>
          <a:xfrm>
            <a:off x="4260942" y="3797300"/>
            <a:ext cx="3669613" cy="9624"/>
          </a:xfrm>
          <a:prstGeom prst="roundRect">
            <a:avLst>
              <a:gd name="adj" fmla="val 50000"/>
            </a:avLst>
          </a:prstGeom>
          <a:solidFill>
            <a:srgbClr val="D8CBBA"/>
          </a:solidFill>
          <a:ln/>
        </p:spPr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78592" y="4372042"/>
            <a:ext cx="742634" cy="742652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4876281" y="5203379"/>
            <a:ext cx="325121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dirty="0">
                <a:solidFill>
                  <a:srgbClr val="1E1A17"/>
                </a:solidFill>
                <a:latin typeface="Geist SemiBold" pitchFamily="34" charset="0"/>
                <a:ea typeface="Geist SemiBold" pitchFamily="34" charset="-122"/>
                <a:cs typeface="Geist SemiBold" pitchFamily="34" charset="0"/>
              </a:rPr>
              <a:t>Machine Performance Analysis</a:t>
            </a:r>
            <a:endParaRPr lang="en-US" sz="1500" dirty="0"/>
          </a:p>
        </p:txBody>
      </p:sp>
      <p:sp>
        <p:nvSpPr>
          <p:cNvPr id="19" name="Shape 12"/>
          <p:cNvSpPr/>
          <p:nvPr/>
        </p:nvSpPr>
        <p:spPr>
          <a:xfrm>
            <a:off x="7919740" y="3796010"/>
            <a:ext cx="9624" cy="2300089"/>
          </a:xfrm>
          <a:prstGeom prst="roundRect">
            <a:avLst>
              <a:gd name="adj" fmla="val 50000"/>
            </a:avLst>
          </a:prstGeom>
          <a:solidFill>
            <a:srgbClr val="D8CBBA"/>
          </a:solidFill>
          <a:ln/>
        </p:spPr>
      </p:sp>
      <p:sp>
        <p:nvSpPr>
          <p:cNvPr id="20" name="Shape 13"/>
          <p:cNvSpPr/>
          <p:nvPr/>
        </p:nvSpPr>
        <p:spPr>
          <a:xfrm>
            <a:off x="7918450" y="3797300"/>
            <a:ext cx="3663461" cy="9624"/>
          </a:xfrm>
          <a:prstGeom prst="roundRect">
            <a:avLst>
              <a:gd name="adj" fmla="val 50000"/>
            </a:avLst>
          </a:prstGeom>
          <a:solidFill>
            <a:srgbClr val="D8CBBA"/>
          </a:solidFill>
          <a:ln/>
        </p:spPr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36100" y="4372042"/>
            <a:ext cx="742634" cy="742652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8533789" y="5203379"/>
            <a:ext cx="345431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dirty="0">
                <a:solidFill>
                  <a:srgbClr val="1E1A17"/>
                </a:solidFill>
                <a:latin typeface="Geist SemiBold" pitchFamily="34" charset="0"/>
                <a:ea typeface="Geist SemiBold" pitchFamily="34" charset="-122"/>
                <a:cs typeface="Geist SemiBold" pitchFamily="34" charset="0"/>
              </a:rPr>
              <a:t>Secure User Access</a:t>
            </a:r>
            <a:endParaRPr lang="en-US" sz="1500" dirty="0"/>
          </a:p>
        </p:txBody>
      </p:sp>
      <p:sp>
        <p:nvSpPr>
          <p:cNvPr id="23" name="Text 15"/>
          <p:cNvSpPr/>
          <p:nvPr/>
        </p:nvSpPr>
        <p:spPr>
          <a:xfrm>
            <a:off x="11210049" y="6456462"/>
            <a:ext cx="791051" cy="193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21000"/>
              </a:lnSpc>
              <a:buNone/>
            </a:pPr>
            <a:r>
              <a:rPr lang="en-US" sz="1050" kern="100" spc="84" dirty="0">
                <a:solidFill>
                  <a:srgbClr val="625950"/>
                </a:solidFill>
                <a:latin typeface="Geist Mono" pitchFamily="34" charset="0"/>
                <a:ea typeface="Geist Mono" pitchFamily="34" charset="-122"/>
                <a:cs typeface="Geist Mono" pitchFamily="34" charset="0"/>
              </a:rPr>
              <a:t>04</a:t>
            </a:r>
            <a:endParaRPr lang="en-US" sz="1050" dirty="0"/>
          </a:p>
        </p:txBody>
      </p:sp>
      <p:sp>
        <p:nvSpPr>
          <p:cNvPr id="25" name="Text 17">
            <a:extLst>
              <a:ext uri="{FF2B5EF4-FFF2-40B4-BE49-F238E27FC236}">
                <a16:creationId xmlns:a16="http://schemas.microsoft.com/office/drawing/2014/main" id="{6E30F44D-55ED-DF08-F0A5-D7CC232D7C34}"/>
              </a:ext>
            </a:extLst>
          </p:cNvPr>
          <p:cNvSpPr/>
          <p:nvPr/>
        </p:nvSpPr>
        <p:spPr>
          <a:xfrm>
            <a:off x="11103188" y="6048137"/>
            <a:ext cx="791051" cy="193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21000"/>
              </a:lnSpc>
              <a:buNone/>
            </a:pPr>
            <a:r>
              <a:rPr lang="en-US" sz="1050" kern="100" spc="84" dirty="0">
                <a:solidFill>
                  <a:srgbClr val="625950"/>
                </a:solidFill>
                <a:latin typeface="Geist Mono" pitchFamily="34" charset="0"/>
                <a:ea typeface="Geist Mono" pitchFamily="34" charset="-122"/>
                <a:cs typeface="Geist Mono" pitchFamily="34" charset="0"/>
              </a:rPr>
              <a:t>04</a:t>
            </a:r>
            <a:endParaRPr lang="en-US" sz="1050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9DD127DE-EF51-4FEE-2E3F-B5261EE9CED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507159" y="6248347"/>
            <a:ext cx="1699407" cy="609653"/>
          </a:xfrm>
          <a:prstGeom prst="rect">
            <a:avLst/>
          </a:prstGeom>
        </p:spPr>
      </p:pic>
      <p:sp>
        <p:nvSpPr>
          <p:cNvPr id="31" name="Shape 3">
            <a:extLst>
              <a:ext uri="{FF2B5EF4-FFF2-40B4-BE49-F238E27FC236}">
                <a16:creationId xmlns:a16="http://schemas.microsoft.com/office/drawing/2014/main" id="{8BA6B2C4-99E8-D015-DC05-96FB3B96D3F9}"/>
              </a:ext>
            </a:extLst>
          </p:cNvPr>
          <p:cNvSpPr/>
          <p:nvPr/>
        </p:nvSpPr>
        <p:spPr>
          <a:xfrm>
            <a:off x="1060806" y="6184784"/>
            <a:ext cx="10521105" cy="476433"/>
          </a:xfrm>
          <a:prstGeom prst="roundRect">
            <a:avLst>
              <a:gd name="adj" fmla="val 1797"/>
            </a:avLst>
          </a:prstGeom>
          <a:solidFill>
            <a:srgbClr val="EFE4D4"/>
          </a:solidFill>
          <a:ln/>
        </p:spPr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E4024C1-968C-5DE4-571D-93B22B842D54}"/>
              </a:ext>
            </a:extLst>
          </p:cNvPr>
          <p:cNvSpPr txBox="1"/>
          <p:nvPr/>
        </p:nvSpPr>
        <p:spPr>
          <a:xfrm>
            <a:off x="1473256" y="6219512"/>
            <a:ext cx="95313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t">
              <a:lnSpc>
                <a:spcPct val="100000"/>
              </a:lnSpc>
              <a:buNone/>
            </a:pPr>
            <a:r>
              <a:rPr lang="en-IN"/>
              <a:t>Deliver a centralized analytics platform for KPI monitoring and data-driven manufacturing decisions.</a:t>
            </a:r>
            <a:endParaRPr lang="en-IN" dirty="0">
              <a:latin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6585"/>
            <a:ext cx="11582110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100" spc="88" dirty="0">
                <a:solidFill>
                  <a:srgbClr val="625950"/>
                </a:solidFill>
                <a:latin typeface="Geist Mono Medium" pitchFamily="34" charset="0"/>
                <a:ea typeface="Geist Mono Medium" pitchFamily="34" charset="-122"/>
                <a:cs typeface="Geist Mono Medium" pitchFamily="34" charset="0"/>
              </a:rPr>
              <a:t>TECHNOLOGY STACK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902059"/>
            <a:ext cx="10972526" cy="466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400" kern="100" spc="-85" dirty="0">
                <a:solidFill>
                  <a:srgbClr val="1E1A17"/>
                </a:solidFill>
                <a:latin typeface="Geist Medium" pitchFamily="34" charset="0"/>
                <a:ea typeface="Geist Medium" pitchFamily="34" charset="-122"/>
                <a:cs typeface="Geist Medium" pitchFamily="34" charset="0"/>
              </a:rPr>
              <a:t>Each layer has a focused role</a:t>
            </a:r>
            <a:endParaRPr lang="en-US" sz="3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2674667"/>
              </p:ext>
            </p:extLst>
          </p:nvPr>
        </p:nvGraphicFramePr>
        <p:xfrm>
          <a:off x="609585" y="1507927"/>
          <a:ext cx="10972526" cy="3384465"/>
        </p:xfrm>
        <a:graphic>
          <a:graphicData uri="http://schemas.openxmlformats.org/drawingml/2006/table">
            <a:tbl>
              <a:tblPr/>
              <a:tblGrid>
                <a:gridCol w="43889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835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456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kern="100" spc="84" dirty="0">
                          <a:solidFill>
                            <a:srgbClr val="625950"/>
                          </a:solidFill>
                          <a:latin typeface="Geist Mono" pitchFamily="34" charset="0"/>
                          <a:ea typeface="Geist Mono" pitchFamily="34" charset="-122"/>
                          <a:cs typeface="Geist Mono" pitchFamily="34" charset="0"/>
                        </a:rPr>
                        <a:t>CATEGORY</a:t>
                      </a:r>
                      <a:endParaRPr lang="en-US" sz="1050" dirty="0">
                        <a:latin typeface="Geist Mono" charset="0"/>
                        <a:ea typeface="Geist Mono" charset="0"/>
                        <a:cs typeface="Geist Mono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FBF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BF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2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kern="100" spc="84" dirty="0">
                          <a:solidFill>
                            <a:srgbClr val="625950"/>
                          </a:solidFill>
                          <a:latin typeface="Geist Mono" pitchFamily="34" charset="0"/>
                          <a:ea typeface="Geist Mono" pitchFamily="34" charset="-122"/>
                          <a:cs typeface="Geist Mono" pitchFamily="34" charset="0"/>
                        </a:rPr>
                        <a:t>TECHNOLOGY</a:t>
                      </a:r>
                      <a:endParaRPr lang="en-US" sz="1050" dirty="0">
                        <a:latin typeface="Geist Mono" charset="0"/>
                        <a:ea typeface="Geist Mono" charset="0"/>
                        <a:cs typeface="Geist Mono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FBF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BF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2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27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3A332D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0"/>
                        </a:rPr>
                        <a:t>Data Warehouse</a:t>
                      </a:r>
                      <a:endParaRPr lang="en-US" sz="14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FBF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2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2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3A332D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0"/>
                        </a:rPr>
                        <a:t>Snowflake</a:t>
                      </a:r>
                      <a:endParaRPr lang="en-US" sz="14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FBF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2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2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27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3A332D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0"/>
                        </a:rPr>
                        <a:t>Querying</a:t>
                      </a:r>
                      <a:endParaRPr lang="en-US" sz="14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FBF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2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2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3A332D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0"/>
                        </a:rPr>
                        <a:t>SQL</a:t>
                      </a:r>
                      <a:endParaRPr lang="en-US" sz="14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FBF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2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2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27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3A332D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0"/>
                        </a:rPr>
                        <a:t>Modeling</a:t>
                      </a:r>
                      <a:endParaRPr lang="en-US" sz="14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FBF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2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2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3A332D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0"/>
                        </a:rPr>
                        <a:t>Star Schema</a:t>
                      </a:r>
                      <a:endParaRPr lang="en-US" sz="14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FBF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2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2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27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3A332D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0"/>
                        </a:rPr>
                        <a:t>Visualization</a:t>
                      </a:r>
                      <a:endParaRPr lang="en-US" sz="14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FBF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2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2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ct val="119048"/>
                        </a:lnSpc>
                        <a:buNone/>
                      </a:pPr>
                      <a:r>
                        <a:rPr lang="en-IN" sz="1400" b="0" i="0" dirty="0">
                          <a:effectLst/>
                          <a:latin typeface="Geist" charset="0"/>
                          <a:ea typeface="Geist" charset="0"/>
                          <a:cs typeface="Geist" charset="0"/>
                        </a:rPr>
                        <a:t>Power BI Desktop &amp; Service</a:t>
                      </a:r>
                    </a:p>
                  </a:txBody>
                  <a:tcPr>
                    <a:lnL w="12700" cap="flat" cmpd="sng" algn="ctr">
                      <a:solidFill>
                        <a:srgbClr val="FBF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2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2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27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3A332D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0"/>
                        </a:rPr>
                        <a:t>Calculations</a:t>
                      </a:r>
                      <a:endParaRPr lang="en-US" sz="14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FBF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2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2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3A332D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0"/>
                        </a:rPr>
                        <a:t>DAX</a:t>
                      </a:r>
                      <a:endParaRPr lang="en-US" sz="14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FBF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2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2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635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3A332D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0"/>
                        </a:rPr>
                        <a:t>Security</a:t>
                      </a:r>
                      <a:endParaRPr lang="en-US" sz="14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FBF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2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BF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3A332D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0"/>
                        </a:rPr>
                        <a:t>Dynamic Row-Level Security (RLS)</a:t>
                      </a:r>
                      <a:endParaRPr lang="en-US" sz="14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FBF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2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BF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1210049" y="6456462"/>
            <a:ext cx="791051" cy="193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21000"/>
              </a:lnSpc>
              <a:buNone/>
            </a:pPr>
            <a:r>
              <a:rPr lang="en-US" sz="1050" kern="100" spc="84" dirty="0">
                <a:solidFill>
                  <a:srgbClr val="625950"/>
                </a:solidFill>
                <a:latin typeface="Geist Mono" pitchFamily="34" charset="0"/>
                <a:ea typeface="Geist Mono" pitchFamily="34" charset="-122"/>
                <a:cs typeface="Geist Mono" pitchFamily="34" charset="0"/>
              </a:rPr>
              <a:t>05</a:t>
            </a:r>
            <a:endParaRPr lang="en-US" sz="1050" dirty="0"/>
          </a:p>
        </p:txBody>
      </p:sp>
      <p:sp>
        <p:nvSpPr>
          <p:cNvPr id="7" name="Text 17">
            <a:extLst>
              <a:ext uri="{FF2B5EF4-FFF2-40B4-BE49-F238E27FC236}">
                <a16:creationId xmlns:a16="http://schemas.microsoft.com/office/drawing/2014/main" id="{99752CD0-6293-0017-1780-CB6310EE7FFC}"/>
              </a:ext>
            </a:extLst>
          </p:cNvPr>
          <p:cNvSpPr/>
          <p:nvPr/>
        </p:nvSpPr>
        <p:spPr>
          <a:xfrm>
            <a:off x="11103188" y="6048137"/>
            <a:ext cx="791051" cy="193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21000"/>
              </a:lnSpc>
              <a:buNone/>
            </a:pPr>
            <a:r>
              <a:rPr lang="en-US" sz="1050" kern="100" spc="84" dirty="0">
                <a:solidFill>
                  <a:srgbClr val="625950"/>
                </a:solidFill>
                <a:latin typeface="Geist Mono" pitchFamily="34" charset="0"/>
                <a:ea typeface="Geist Mono" pitchFamily="34" charset="-122"/>
                <a:cs typeface="Geist Mono" pitchFamily="34" charset="0"/>
              </a:rPr>
              <a:t>05</a:t>
            </a:r>
            <a:endParaRPr lang="en-US" sz="105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23D15CF-D621-9B58-BC4B-FDD23899A2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07159" y="6248347"/>
            <a:ext cx="1699407" cy="60965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6585"/>
            <a:ext cx="11582110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100" spc="88" dirty="0">
                <a:solidFill>
                  <a:srgbClr val="625950"/>
                </a:solidFill>
                <a:latin typeface="Geist Mono Medium" pitchFamily="34" charset="0"/>
                <a:ea typeface="Geist Mono Medium" pitchFamily="34" charset="-122"/>
                <a:cs typeface="Geist Mono Medium" pitchFamily="34" charset="0"/>
              </a:rPr>
              <a:t>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941945"/>
            <a:ext cx="10972526" cy="466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800" kern="100" spc="-85" dirty="0">
                <a:solidFill>
                  <a:srgbClr val="1E1A17"/>
                </a:solidFill>
                <a:latin typeface="Geist Medium" pitchFamily="34" charset="0"/>
                <a:ea typeface="Geist Medium" pitchFamily="34" charset="-122"/>
                <a:cs typeface="Geist Medium" pitchFamily="34" charset="0"/>
              </a:rPr>
              <a:t>From source data to business decisions</a:t>
            </a:r>
            <a:endParaRPr lang="en-US" sz="2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1924408"/>
            <a:ext cx="6466721" cy="33007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731825" y="3391555"/>
            <a:ext cx="2545393" cy="8227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1210049" y="6456462"/>
            <a:ext cx="791051" cy="193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21000"/>
              </a:lnSpc>
              <a:buNone/>
            </a:pPr>
            <a:r>
              <a:rPr lang="en-US" sz="1050" kern="100" spc="84" dirty="0">
                <a:solidFill>
                  <a:srgbClr val="625950"/>
                </a:solidFill>
                <a:latin typeface="Geist Mono" pitchFamily="34" charset="0"/>
                <a:ea typeface="Geist Mono" pitchFamily="34" charset="-122"/>
                <a:cs typeface="Geist Mono" pitchFamily="34" charset="0"/>
              </a:rPr>
              <a:t>06</a:t>
            </a:r>
            <a:endParaRPr lang="en-US" sz="1050" dirty="0"/>
          </a:p>
        </p:txBody>
      </p:sp>
      <p:sp>
        <p:nvSpPr>
          <p:cNvPr id="9" name="Text 17">
            <a:extLst>
              <a:ext uri="{FF2B5EF4-FFF2-40B4-BE49-F238E27FC236}">
                <a16:creationId xmlns:a16="http://schemas.microsoft.com/office/drawing/2014/main" id="{E6AF2741-2473-D309-0428-0A60E77C3E83}"/>
              </a:ext>
            </a:extLst>
          </p:cNvPr>
          <p:cNvSpPr/>
          <p:nvPr/>
        </p:nvSpPr>
        <p:spPr>
          <a:xfrm>
            <a:off x="11103188" y="6048137"/>
            <a:ext cx="791051" cy="193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21000"/>
              </a:lnSpc>
              <a:buNone/>
            </a:pPr>
            <a:r>
              <a:rPr lang="en-US" sz="1050" kern="100" spc="84" dirty="0">
                <a:solidFill>
                  <a:srgbClr val="625950"/>
                </a:solidFill>
                <a:latin typeface="Geist Mono" pitchFamily="34" charset="0"/>
                <a:ea typeface="Geist Mono" pitchFamily="34" charset="-122"/>
                <a:cs typeface="Geist Mono" pitchFamily="34" charset="0"/>
              </a:rPr>
              <a:t>06</a:t>
            </a:r>
            <a:endParaRPr lang="en-US" sz="105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DF98940-9420-18BC-898B-7C6910BB76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07159" y="6248347"/>
            <a:ext cx="1699407" cy="609653"/>
          </a:xfrm>
          <a:prstGeom prst="rect">
            <a:avLst/>
          </a:prstGeom>
        </p:spPr>
      </p:pic>
      <p:sp>
        <p:nvSpPr>
          <p:cNvPr id="16" name="Shape 2">
            <a:extLst>
              <a:ext uri="{FF2B5EF4-FFF2-40B4-BE49-F238E27FC236}">
                <a16:creationId xmlns:a16="http://schemas.microsoft.com/office/drawing/2014/main" id="{B394A782-409F-A094-06C6-CEAAF94DFF1E}"/>
              </a:ext>
            </a:extLst>
          </p:cNvPr>
          <p:cNvSpPr/>
          <p:nvPr/>
        </p:nvSpPr>
        <p:spPr>
          <a:xfrm>
            <a:off x="7240186" y="388553"/>
            <a:ext cx="4211714" cy="6164548"/>
          </a:xfrm>
          <a:prstGeom prst="roundRect">
            <a:avLst>
              <a:gd name="adj" fmla="val 845"/>
            </a:avLst>
          </a:prstGeom>
          <a:solidFill>
            <a:srgbClr val="EFE4D4"/>
          </a:solidFill>
          <a:ln/>
        </p:spPr>
        <p:txBody>
          <a:bodyPr/>
          <a:lstStyle/>
          <a:p>
            <a:endParaRPr lang="en-IN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2CD36BD7-2667-180F-5AA3-1849CB02619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03576" y="557127"/>
            <a:ext cx="3884933" cy="58274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6585"/>
            <a:ext cx="11582110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100" spc="88" dirty="0">
                <a:solidFill>
                  <a:srgbClr val="625950"/>
                </a:solidFill>
                <a:latin typeface="Geist Mono Medium" pitchFamily="34" charset="0"/>
                <a:ea typeface="Geist Mono Medium" pitchFamily="34" charset="-122"/>
                <a:cs typeface="Geist Mono Medium" pitchFamily="34" charset="0"/>
              </a:rPr>
              <a:t>DATA MODEL OVERVIEW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902059"/>
            <a:ext cx="10972526" cy="466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400" kern="100" spc="-85" dirty="0">
                <a:solidFill>
                  <a:srgbClr val="1E1A17"/>
                </a:solidFill>
                <a:latin typeface="Geist Medium" pitchFamily="34" charset="0"/>
                <a:ea typeface="Geist Medium" pitchFamily="34" charset="-122"/>
                <a:cs typeface="Geist Medium" pitchFamily="34" charset="0"/>
              </a:rPr>
              <a:t>The star schema keeps analysis flexible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09585" y="1507927"/>
            <a:ext cx="1275199" cy="3302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b="1" dirty="0">
                <a:solidFill>
                  <a:srgbClr val="3A332D"/>
                </a:solidFill>
                <a:latin typeface="Geist Bold" pitchFamily="34" charset="0"/>
                <a:ea typeface="Geist Bold" pitchFamily="34" charset="-122"/>
                <a:cs typeface="Geist Bold" pitchFamily="34" charset="0"/>
              </a:rPr>
              <a:t>Fact tables:</a:t>
            </a:r>
            <a:r>
              <a:rPr lang="en-US" sz="1600" dirty="0">
                <a:solidFill>
                  <a:srgbClr val="3A332D"/>
                </a:solidFill>
                <a:latin typeface="Geist" pitchFamily="34" charset="0"/>
                <a:ea typeface="Geist" pitchFamily="34" charset="-122"/>
                <a:cs typeface="Geist" pitchFamily="34" charset="0"/>
              </a:rPr>
              <a:t> </a:t>
            </a:r>
          </a:p>
        </p:txBody>
      </p:sp>
      <p:sp>
        <p:nvSpPr>
          <p:cNvPr id="5" name="Text 3"/>
          <p:cNvSpPr/>
          <p:nvPr/>
        </p:nvSpPr>
        <p:spPr>
          <a:xfrm>
            <a:off x="609585" y="3664248"/>
            <a:ext cx="1965663" cy="413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b="1" dirty="0">
                <a:solidFill>
                  <a:srgbClr val="3A332D"/>
                </a:solidFill>
                <a:latin typeface="Geist Bold" pitchFamily="34" charset="0"/>
                <a:ea typeface="Geist Bold" pitchFamily="34" charset="-122"/>
                <a:cs typeface="Geist Bold" pitchFamily="34" charset="0"/>
              </a:rPr>
              <a:t>Dimension tables:</a:t>
            </a:r>
            <a:endParaRPr lang="en-US" sz="16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7434" y="2004417"/>
            <a:ext cx="6484577" cy="358011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97434" y="5553631"/>
            <a:ext cx="7094162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0790960" y="6005140"/>
            <a:ext cx="791051" cy="193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21000"/>
              </a:lnSpc>
              <a:buNone/>
            </a:pPr>
            <a:r>
              <a:rPr lang="en-US" sz="1050" kern="100" spc="84" dirty="0">
                <a:solidFill>
                  <a:srgbClr val="625950"/>
                </a:solidFill>
                <a:latin typeface="Geist Mono" pitchFamily="34" charset="0"/>
                <a:ea typeface="Geist Mono" pitchFamily="34" charset="-122"/>
                <a:cs typeface="Geist Mono" pitchFamily="34" charset="0"/>
              </a:rPr>
              <a:t>07</a:t>
            </a:r>
            <a:endParaRPr lang="en-US" sz="105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0644A67-C1A5-ADB3-86F7-4B8310DCF8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92593" y="6241415"/>
            <a:ext cx="1699407" cy="60965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DB19DFE-3510-6340-4664-76A81E11E1AD}"/>
              </a:ext>
            </a:extLst>
          </p:cNvPr>
          <p:cNvSpPr txBox="1"/>
          <p:nvPr/>
        </p:nvSpPr>
        <p:spPr>
          <a:xfrm>
            <a:off x="1126398" y="1817661"/>
            <a:ext cx="3697528" cy="16113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21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3A332D"/>
                </a:solidFill>
                <a:latin typeface="Geist" pitchFamily="34" charset="0"/>
                <a:ea typeface="Geist" pitchFamily="34" charset="-122"/>
                <a:cs typeface="Geist" pitchFamily="34" charset="0"/>
              </a:rPr>
              <a:t>FACT_PRODUCTION</a:t>
            </a:r>
          </a:p>
          <a:p>
            <a:pPr marL="285750" indent="-285750">
              <a:lnSpc>
                <a:spcPct val="121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3A332D"/>
                </a:solidFill>
                <a:latin typeface="Geist" pitchFamily="34" charset="0"/>
                <a:ea typeface="Geist" pitchFamily="34" charset="-122"/>
                <a:cs typeface="Geist" pitchFamily="34" charset="0"/>
              </a:rPr>
              <a:t>FACT_PRODUCTION_TARGET </a:t>
            </a:r>
          </a:p>
          <a:p>
            <a:pPr marL="285750" indent="-285750">
              <a:lnSpc>
                <a:spcPct val="121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3A332D"/>
                </a:solidFill>
                <a:latin typeface="Geist" pitchFamily="34" charset="0"/>
                <a:ea typeface="Geist" pitchFamily="34" charset="-122"/>
                <a:cs typeface="Geist" pitchFamily="34" charset="0"/>
              </a:rPr>
              <a:t>FACT_QUALITY</a:t>
            </a:r>
          </a:p>
          <a:p>
            <a:pPr marL="285750" indent="-285750">
              <a:lnSpc>
                <a:spcPct val="121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3A332D"/>
                </a:solidFill>
                <a:latin typeface="Geist" pitchFamily="34" charset="0"/>
                <a:ea typeface="Geist" pitchFamily="34" charset="-122"/>
                <a:cs typeface="Geist" pitchFamily="34" charset="0"/>
              </a:rPr>
              <a:t>FACT_MAINTENANCE</a:t>
            </a:r>
          </a:p>
          <a:p>
            <a:pPr marL="285750" indent="-285750">
              <a:lnSpc>
                <a:spcPct val="121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3A332D"/>
                </a:solidFill>
                <a:latin typeface="Geist" pitchFamily="34" charset="0"/>
                <a:ea typeface="Geist" pitchFamily="34" charset="-122"/>
                <a:cs typeface="Geist" pitchFamily="34" charset="0"/>
              </a:rPr>
              <a:t>FACT_DOWNTIME</a:t>
            </a:r>
            <a:endParaRPr lang="en-US" sz="1400" dirty="0"/>
          </a:p>
          <a:p>
            <a:endParaRPr lang="en-IN" sz="14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562493A-29E3-E021-F684-94A50B965EF7}"/>
              </a:ext>
            </a:extLst>
          </p:cNvPr>
          <p:cNvSpPr txBox="1"/>
          <p:nvPr/>
        </p:nvSpPr>
        <p:spPr>
          <a:xfrm>
            <a:off x="1126398" y="4046581"/>
            <a:ext cx="2811120" cy="19007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21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3A332D"/>
                </a:solidFill>
                <a:latin typeface="Geist" pitchFamily="34" charset="0"/>
                <a:ea typeface="Geist" pitchFamily="34" charset="-122"/>
                <a:cs typeface="Geist" pitchFamily="34" charset="0"/>
              </a:rPr>
              <a:t> DIM_DATE</a:t>
            </a:r>
          </a:p>
          <a:p>
            <a:pPr marL="285750" indent="-285750">
              <a:lnSpc>
                <a:spcPct val="121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3A332D"/>
                </a:solidFill>
                <a:latin typeface="Geist" pitchFamily="34" charset="0"/>
                <a:ea typeface="Geist" pitchFamily="34" charset="-122"/>
                <a:cs typeface="Geist" pitchFamily="34" charset="0"/>
              </a:rPr>
              <a:t>DIM_PLANT</a:t>
            </a:r>
          </a:p>
          <a:p>
            <a:pPr marL="285750" indent="-285750">
              <a:lnSpc>
                <a:spcPct val="121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3A332D"/>
                </a:solidFill>
                <a:latin typeface="Geist" pitchFamily="34" charset="0"/>
                <a:ea typeface="Geist" pitchFamily="34" charset="-122"/>
                <a:cs typeface="Geist" pitchFamily="34" charset="0"/>
              </a:rPr>
              <a:t> DIM_MACHINE</a:t>
            </a:r>
          </a:p>
          <a:p>
            <a:pPr marL="285750" indent="-285750">
              <a:lnSpc>
                <a:spcPct val="121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3A332D"/>
                </a:solidFill>
                <a:latin typeface="Geist" pitchFamily="34" charset="0"/>
                <a:ea typeface="Geist" pitchFamily="34" charset="-122"/>
                <a:cs typeface="Geist" pitchFamily="34" charset="0"/>
              </a:rPr>
              <a:t> DIM_PRODUCT</a:t>
            </a:r>
          </a:p>
          <a:p>
            <a:pPr marL="285750" indent="-285750">
              <a:lnSpc>
                <a:spcPct val="121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3A332D"/>
                </a:solidFill>
                <a:latin typeface="Geist" pitchFamily="34" charset="0"/>
                <a:ea typeface="Geist" pitchFamily="34" charset="-122"/>
                <a:cs typeface="Geist" pitchFamily="34" charset="0"/>
              </a:rPr>
              <a:t> DIM_SHIFT</a:t>
            </a:r>
          </a:p>
          <a:p>
            <a:pPr marL="285750" indent="-285750">
              <a:lnSpc>
                <a:spcPct val="121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3A332D"/>
                </a:solidFill>
                <a:latin typeface="Geist" pitchFamily="34" charset="0"/>
                <a:ea typeface="Geist" pitchFamily="34" charset="-122"/>
                <a:cs typeface="Geist" pitchFamily="34" charset="0"/>
              </a:rPr>
              <a:t> DIM_LINE</a:t>
            </a:r>
          </a:p>
          <a:p>
            <a:pPr marL="285750" indent="-285750">
              <a:lnSpc>
                <a:spcPct val="121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3A332D"/>
                </a:solidFill>
                <a:latin typeface="Geist" pitchFamily="34" charset="0"/>
                <a:ea typeface="Geist" pitchFamily="34" charset="-122"/>
                <a:cs typeface="Geist" pitchFamily="34" charset="0"/>
              </a:rPr>
              <a:t> DIM_USER_ACCESS</a:t>
            </a:r>
            <a:endParaRPr lang="en-IN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6585"/>
            <a:ext cx="11582110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100" spc="88" dirty="0">
                <a:solidFill>
                  <a:srgbClr val="625950"/>
                </a:solidFill>
                <a:latin typeface="Geist Mono Medium" pitchFamily="34" charset="0"/>
                <a:ea typeface="Geist Mono Medium" pitchFamily="34" charset="-122"/>
                <a:cs typeface="Geist Mono Medium" pitchFamily="34" charset="0"/>
              </a:rPr>
              <a:t>EXECUTIVE OVERVIEW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902059"/>
            <a:ext cx="10972526" cy="466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400" kern="100" spc="-85" dirty="0">
                <a:solidFill>
                  <a:srgbClr val="1E1A17"/>
                </a:solidFill>
                <a:latin typeface="Geist Medium" pitchFamily="34" charset="0"/>
                <a:ea typeface="Geist Medium" pitchFamily="34" charset="-122"/>
                <a:cs typeface="Geist Medium" pitchFamily="34" charset="0"/>
              </a:rPr>
              <a:t>Executive overview puts the vital signals first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09585" y="1514911"/>
            <a:ext cx="5892752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100" spc="88" dirty="0">
                <a:solidFill>
                  <a:srgbClr val="625950"/>
                </a:solidFill>
                <a:latin typeface="Geist Mono Medium" pitchFamily="34" charset="0"/>
                <a:ea typeface="Geist Mono Medium" pitchFamily="34" charset="-122"/>
                <a:cs typeface="Geist Mono Medium" pitchFamily="34" charset="0"/>
              </a:rPr>
              <a:t>PRODUCTION ACHIEVEMENT %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09585" y="1811635"/>
            <a:ext cx="5283167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800" dirty="0">
                <a:solidFill>
                  <a:srgbClr val="25A643"/>
                </a:solidFill>
                <a:latin typeface="Geist SemiBold" charset="0"/>
                <a:ea typeface="Geist SemiBold" charset="0"/>
                <a:cs typeface="Geist SemiBold" charset="0"/>
              </a:rPr>
              <a:t>95.42%</a:t>
            </a:r>
          </a:p>
        </p:txBody>
      </p:sp>
      <p:sp>
        <p:nvSpPr>
          <p:cNvPr id="7" name="Text 5"/>
          <p:cNvSpPr/>
          <p:nvPr/>
        </p:nvSpPr>
        <p:spPr>
          <a:xfrm>
            <a:off x="609585" y="2485304"/>
            <a:ext cx="5892653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100" spc="88" dirty="0">
                <a:solidFill>
                  <a:srgbClr val="625950"/>
                </a:solidFill>
                <a:latin typeface="Geist Mono Medium" pitchFamily="34" charset="0"/>
                <a:ea typeface="Geist Mono Medium" pitchFamily="34" charset="-122"/>
                <a:cs typeface="Geist Mono Medium" pitchFamily="34" charset="0"/>
              </a:rPr>
              <a:t>DEFECT RATE %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299042" y="1811635"/>
            <a:ext cx="5283167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609585" y="5134197"/>
            <a:ext cx="5492315" cy="9624"/>
          </a:xfrm>
          <a:prstGeom prst="roundRect">
            <a:avLst>
              <a:gd name="adj" fmla="val 50000"/>
            </a:avLst>
          </a:prstGeom>
          <a:solidFill>
            <a:srgbClr val="D8CBBA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0" name="Text 8"/>
          <p:cNvSpPr/>
          <p:nvPr/>
        </p:nvSpPr>
        <p:spPr>
          <a:xfrm>
            <a:off x="609585" y="3422235"/>
            <a:ext cx="5892752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100" spc="88" dirty="0">
                <a:solidFill>
                  <a:srgbClr val="625950"/>
                </a:solidFill>
                <a:latin typeface="Geist Mono Medium" pitchFamily="34" charset="0"/>
                <a:ea typeface="Geist Mono Medium" pitchFamily="34" charset="-122"/>
                <a:cs typeface="Geist Mono Medium" pitchFamily="34" charset="0"/>
              </a:rPr>
              <a:t>MAINTENANCE COST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09585" y="3764161"/>
            <a:ext cx="5283167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800" dirty="0">
                <a:solidFill>
                  <a:srgbClr val="FF0000"/>
                </a:solidFill>
                <a:latin typeface="Geist SemiBold" charset="0"/>
                <a:ea typeface="Geist SemiBold" charset="0"/>
                <a:cs typeface="Geist SemiBold" charset="0"/>
              </a:rPr>
              <a:t>21.12 M</a:t>
            </a:r>
          </a:p>
        </p:txBody>
      </p:sp>
      <p:sp>
        <p:nvSpPr>
          <p:cNvPr id="13" name="Shape 11"/>
          <p:cNvSpPr/>
          <p:nvPr/>
        </p:nvSpPr>
        <p:spPr>
          <a:xfrm>
            <a:off x="6089696" y="3167891"/>
            <a:ext cx="5492315" cy="9624"/>
          </a:xfrm>
          <a:prstGeom prst="roundRect">
            <a:avLst>
              <a:gd name="adj" fmla="val 50000"/>
            </a:avLst>
          </a:prstGeom>
          <a:solidFill>
            <a:srgbClr val="D8CBBA"/>
          </a:solidFill>
          <a:ln/>
        </p:spPr>
      </p:sp>
      <p:sp>
        <p:nvSpPr>
          <p:cNvPr id="14" name="Text 12"/>
          <p:cNvSpPr/>
          <p:nvPr/>
        </p:nvSpPr>
        <p:spPr>
          <a:xfrm>
            <a:off x="609584" y="4305590"/>
            <a:ext cx="5892653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100" spc="88" dirty="0">
                <a:solidFill>
                  <a:srgbClr val="625950"/>
                </a:solidFill>
                <a:latin typeface="Geist Mono Medium" pitchFamily="34" charset="0"/>
                <a:ea typeface="Geist Mono Medium" pitchFamily="34" charset="-122"/>
                <a:cs typeface="Geist Mono Medium" pitchFamily="34" charset="0"/>
              </a:rPr>
              <a:t>DOWNTIME HOURS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299042" y="3764161"/>
            <a:ext cx="5283167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09585" y="5241185"/>
            <a:ext cx="3726837" cy="1369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dirty="0">
                <a:solidFill>
                  <a:srgbClr val="3A332D"/>
                </a:solidFill>
                <a:latin typeface="Geist" pitchFamily="34" charset="0"/>
                <a:ea typeface="Geist" pitchFamily="34" charset="-122"/>
                <a:cs typeface="Geist" pitchFamily="34" charset="0"/>
              </a:rPr>
              <a:t>Business value: </a:t>
            </a:r>
          </a:p>
          <a:p>
            <a:pPr>
              <a:lnSpc>
                <a:spcPct val="121000"/>
              </a:lnSpc>
            </a:pPr>
            <a:r>
              <a:rPr lang="en-US" dirty="0">
                <a:solidFill>
                  <a:srgbClr val="3A332D"/>
                </a:solidFill>
                <a:latin typeface="Geist" pitchFamily="34" charset="0"/>
                <a:ea typeface="Geist" pitchFamily="34" charset="-122"/>
                <a:cs typeface="Geist" pitchFamily="34" charset="0"/>
              </a:rPr>
              <a:t>Provides a high-level manufacturing performance summary for executive decision-making.</a:t>
            </a: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7629632" y="5420082"/>
            <a:ext cx="3698485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103188" y="6048137"/>
            <a:ext cx="791051" cy="193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21000"/>
              </a:lnSpc>
              <a:buNone/>
            </a:pPr>
            <a:r>
              <a:rPr lang="en-US" sz="1050" kern="100" spc="84" dirty="0">
                <a:solidFill>
                  <a:srgbClr val="625950"/>
                </a:solidFill>
                <a:latin typeface="Geist Mono" pitchFamily="34" charset="0"/>
                <a:ea typeface="Geist Mono" pitchFamily="34" charset="-122"/>
                <a:cs typeface="Geist Mono" pitchFamily="34" charset="0"/>
              </a:rPr>
              <a:t>08</a:t>
            </a:r>
            <a:endParaRPr lang="en-US" sz="105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86899AD5-2F73-7BD0-DCD9-A9C59870C5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07159" y="6248347"/>
            <a:ext cx="1699407" cy="609653"/>
          </a:xfrm>
          <a:prstGeom prst="rect">
            <a:avLst/>
          </a:prstGeom>
        </p:spPr>
      </p:pic>
      <p:sp>
        <p:nvSpPr>
          <p:cNvPr id="31" name="Shape 7">
            <a:extLst>
              <a:ext uri="{FF2B5EF4-FFF2-40B4-BE49-F238E27FC236}">
                <a16:creationId xmlns:a16="http://schemas.microsoft.com/office/drawing/2014/main" id="{41967DC6-3FBC-21BD-12B2-924EEB052DC6}"/>
              </a:ext>
            </a:extLst>
          </p:cNvPr>
          <p:cNvSpPr/>
          <p:nvPr/>
        </p:nvSpPr>
        <p:spPr>
          <a:xfrm>
            <a:off x="609585" y="3319366"/>
            <a:ext cx="5492315" cy="9624"/>
          </a:xfrm>
          <a:prstGeom prst="roundRect">
            <a:avLst>
              <a:gd name="adj" fmla="val 50000"/>
            </a:avLst>
          </a:prstGeom>
          <a:solidFill>
            <a:srgbClr val="D8CBBA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33" name="Shape 7">
            <a:extLst>
              <a:ext uri="{FF2B5EF4-FFF2-40B4-BE49-F238E27FC236}">
                <a16:creationId xmlns:a16="http://schemas.microsoft.com/office/drawing/2014/main" id="{95238AB8-2D27-C56C-F808-6C0B7000630A}"/>
              </a:ext>
            </a:extLst>
          </p:cNvPr>
          <p:cNvSpPr/>
          <p:nvPr/>
        </p:nvSpPr>
        <p:spPr>
          <a:xfrm>
            <a:off x="597380" y="2325254"/>
            <a:ext cx="5492315" cy="9624"/>
          </a:xfrm>
          <a:prstGeom prst="roundRect">
            <a:avLst>
              <a:gd name="adj" fmla="val 50000"/>
            </a:avLst>
          </a:prstGeom>
          <a:solidFill>
            <a:srgbClr val="D8CBBA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35" name="Shape 7">
            <a:extLst>
              <a:ext uri="{FF2B5EF4-FFF2-40B4-BE49-F238E27FC236}">
                <a16:creationId xmlns:a16="http://schemas.microsoft.com/office/drawing/2014/main" id="{020742B6-E953-8B16-E189-B8EE40FAF7A0}"/>
              </a:ext>
            </a:extLst>
          </p:cNvPr>
          <p:cNvSpPr/>
          <p:nvPr/>
        </p:nvSpPr>
        <p:spPr>
          <a:xfrm>
            <a:off x="609585" y="4162322"/>
            <a:ext cx="5492315" cy="9624"/>
          </a:xfrm>
          <a:prstGeom prst="roundRect">
            <a:avLst>
              <a:gd name="adj" fmla="val 50000"/>
            </a:avLst>
          </a:prstGeom>
          <a:solidFill>
            <a:srgbClr val="D8CBBA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37" name="Shape 15">
            <a:extLst>
              <a:ext uri="{FF2B5EF4-FFF2-40B4-BE49-F238E27FC236}">
                <a16:creationId xmlns:a16="http://schemas.microsoft.com/office/drawing/2014/main" id="{F05934F3-E50E-DA23-39AD-6C47FA3802C4}"/>
              </a:ext>
            </a:extLst>
          </p:cNvPr>
          <p:cNvSpPr/>
          <p:nvPr/>
        </p:nvSpPr>
        <p:spPr>
          <a:xfrm>
            <a:off x="4303298" y="1428840"/>
            <a:ext cx="7278912" cy="5053558"/>
          </a:xfrm>
          <a:prstGeom prst="roundRect">
            <a:avLst>
              <a:gd name="adj" fmla="val 2463"/>
            </a:avLst>
          </a:prstGeom>
          <a:solidFill>
            <a:srgbClr val="EFE4D4"/>
          </a:solidFill>
          <a:ln/>
        </p:spPr>
        <p:txBody>
          <a:bodyPr/>
          <a:lstStyle/>
          <a:p>
            <a:endParaRPr lang="en-IN" dirty="0"/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94256FAE-2341-03D9-68FB-EBBFA715ACF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090"/>
          <a:stretch>
            <a:fillRect/>
          </a:stretch>
        </p:blipFill>
        <p:spPr>
          <a:xfrm>
            <a:off x="4532836" y="1526693"/>
            <a:ext cx="6921278" cy="3577277"/>
          </a:xfrm>
          <a:prstGeom prst="rect">
            <a:avLst/>
          </a:prstGeom>
        </p:spPr>
      </p:pic>
      <p:sp>
        <p:nvSpPr>
          <p:cNvPr id="45" name="TextBox 44">
            <a:extLst>
              <a:ext uri="{FF2B5EF4-FFF2-40B4-BE49-F238E27FC236}">
                <a16:creationId xmlns:a16="http://schemas.microsoft.com/office/drawing/2014/main" id="{BDAC742D-62FF-5BA9-82DA-706C39DFB829}"/>
              </a:ext>
            </a:extLst>
          </p:cNvPr>
          <p:cNvSpPr txBox="1"/>
          <p:nvPr/>
        </p:nvSpPr>
        <p:spPr>
          <a:xfrm>
            <a:off x="518640" y="2728782"/>
            <a:ext cx="13687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rgbClr val="FF0000"/>
                </a:solidFill>
                <a:latin typeface="Geist SemiBold" charset="0"/>
                <a:ea typeface="Geist SemiBold" charset="0"/>
                <a:cs typeface="Geist SemiBold" charset="0"/>
              </a:rPr>
              <a:t>2.35%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00517BE-B377-DBD1-EFDA-DDC60619B2D7}"/>
              </a:ext>
            </a:extLst>
          </p:cNvPr>
          <p:cNvSpPr txBox="1"/>
          <p:nvPr/>
        </p:nvSpPr>
        <p:spPr>
          <a:xfrm>
            <a:off x="503779" y="4494839"/>
            <a:ext cx="21554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chemeClr val="accent2"/>
                </a:solidFill>
                <a:latin typeface="Geist SemiBold" charset="0"/>
                <a:ea typeface="Geist SemiBold" charset="0"/>
                <a:cs typeface="Geist SemiBold" charset="0"/>
              </a:rPr>
              <a:t>4,118 Hrs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16A8CBC-F974-6DCF-6B7B-977D4FFCF08D}"/>
              </a:ext>
            </a:extLst>
          </p:cNvPr>
          <p:cNvSpPr txBox="1"/>
          <p:nvPr/>
        </p:nvSpPr>
        <p:spPr>
          <a:xfrm>
            <a:off x="4404939" y="5208901"/>
            <a:ext cx="7177072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1400" dirty="0">
                <a:latin typeface="Geist" charset="0"/>
                <a:ea typeface="Geist" charset="0"/>
                <a:cs typeface="Geist" charset="0"/>
              </a:rPr>
              <a:t>The Executive Overview dashboard provides a consolidated view of key manufacturing KPIs including Production Achievement, Defect Rate, Maintenance Cost, and Downtime Hours. </a:t>
            </a:r>
          </a:p>
          <a:p>
            <a:pPr marL="285750" indent="-28575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1400" dirty="0">
                <a:latin typeface="Geist" charset="0"/>
                <a:ea typeface="Geist" charset="0"/>
                <a:cs typeface="Geist" charset="0"/>
              </a:rPr>
              <a:t>It enables executives to monitor overall plant performance and quickly identify operational issues through a single reporting page.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6585"/>
            <a:ext cx="11582110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100" spc="88" dirty="0">
                <a:solidFill>
                  <a:srgbClr val="625950"/>
                </a:solidFill>
                <a:latin typeface="Geist Mono Medium" pitchFamily="34" charset="0"/>
                <a:ea typeface="Geist Mono Medium" pitchFamily="34" charset="-122"/>
                <a:cs typeface="Geist Mono Medium" pitchFamily="34" charset="0"/>
              </a:rPr>
              <a:t>PRODUCTION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902059"/>
            <a:ext cx="10972526" cy="466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400" kern="100" spc="-85" dirty="0">
                <a:solidFill>
                  <a:srgbClr val="1E1A17"/>
                </a:solidFill>
                <a:latin typeface="Geist Medium" pitchFamily="34" charset="0"/>
                <a:ea typeface="Geist Medium" pitchFamily="34" charset="-122"/>
                <a:cs typeface="Geist Medium" pitchFamily="34" charset="0"/>
              </a:rPr>
              <a:t>Production performance connects plan to output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01114" y="1666409"/>
            <a:ext cx="2539936" cy="243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1E1A17"/>
                </a:solidFill>
                <a:latin typeface="Geist Mono Medium" panose="020B0604020202020204" charset="0"/>
                <a:ea typeface="Geist Mono Medium" panose="020B0604020202020204" charset="0"/>
                <a:cs typeface="Geist Mono Medium" panose="020B0604020202020204" charset="0"/>
              </a:rPr>
              <a:t>Total Produced Qty</a:t>
            </a:r>
            <a:endParaRPr lang="en-US" sz="1100" dirty="0">
              <a:latin typeface="Geist Mono Medium" panose="020B0604020202020204" charset="0"/>
              <a:ea typeface="Geist Mono Medium" panose="020B0604020202020204" charset="0"/>
              <a:cs typeface="Geist Mono Medium" panose="020B060402020202020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01112" y="2487010"/>
            <a:ext cx="2336841" cy="243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1E1A17"/>
                </a:solidFill>
                <a:latin typeface="Geist Mono Medium" panose="020B0604020202020204" charset="0"/>
                <a:ea typeface="Geist Mono Medium" panose="020B0604020202020204" charset="0"/>
                <a:cs typeface="Geist Mono Medium" panose="020B0604020202020204" charset="0"/>
              </a:rPr>
              <a:t>Total Planned Qty</a:t>
            </a:r>
            <a:endParaRPr lang="en-US" sz="1100" dirty="0">
              <a:latin typeface="Geist Mono Medium" panose="020B0604020202020204" charset="0"/>
              <a:ea typeface="Geist Mono Medium" panose="020B0604020202020204" charset="0"/>
              <a:cs typeface="Geist Mono Medium" panose="020B060402020202020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701113" y="3265673"/>
            <a:ext cx="2336841" cy="243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1E1A17"/>
                </a:solidFill>
                <a:latin typeface="Geist Mono Medium" panose="020B0604020202020204" charset="0"/>
                <a:ea typeface="Geist Mono Medium" panose="020B0604020202020204" charset="0"/>
                <a:cs typeface="Geist Mono Medium" panose="020B0604020202020204" charset="0"/>
              </a:rPr>
              <a:t>Production Variance</a:t>
            </a:r>
            <a:endParaRPr lang="en-US" sz="1100" dirty="0">
              <a:latin typeface="Geist Mono Medium" panose="020B0604020202020204" charset="0"/>
              <a:ea typeface="Geist Mono Medium" panose="020B0604020202020204" charset="0"/>
              <a:cs typeface="Geist Mono Medium" panose="020B060402020202020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01113" y="4084144"/>
            <a:ext cx="2539936" cy="243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1E1A17"/>
                </a:solidFill>
                <a:latin typeface="Geist Mono Medium" panose="020B0604020202020204" charset="0"/>
                <a:ea typeface="Geist Mono Medium" panose="020B0604020202020204" charset="0"/>
                <a:cs typeface="Geist Mono Medium" panose="020B0604020202020204" charset="0"/>
              </a:rPr>
              <a:t>Achievement %</a:t>
            </a:r>
            <a:endParaRPr lang="en-US" sz="1100" dirty="0">
              <a:latin typeface="Geist Mono Medium" panose="020B0604020202020204" charset="0"/>
              <a:ea typeface="Geist Mono Medium" panose="020B0604020202020204" charset="0"/>
              <a:cs typeface="Geist Mono Medium" panose="020B060402020202020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34643" y="5035073"/>
            <a:ext cx="6918747" cy="313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509591" y="4664024"/>
            <a:ext cx="3698485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210049" y="6456462"/>
            <a:ext cx="791051" cy="193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21000"/>
              </a:lnSpc>
              <a:buNone/>
            </a:pPr>
            <a:r>
              <a:rPr lang="en-US" sz="1050" kern="100" spc="84" dirty="0">
                <a:solidFill>
                  <a:srgbClr val="625950"/>
                </a:solidFill>
                <a:latin typeface="Geist Mono" pitchFamily="34" charset="0"/>
                <a:ea typeface="Geist Mono" pitchFamily="34" charset="-122"/>
                <a:cs typeface="Geist Mono" pitchFamily="34" charset="0"/>
              </a:rPr>
              <a:t>09</a:t>
            </a:r>
            <a:endParaRPr lang="en-US" sz="1050" dirty="0"/>
          </a:p>
        </p:txBody>
      </p:sp>
      <p:sp>
        <p:nvSpPr>
          <p:cNvPr id="16" name="Text 17">
            <a:extLst>
              <a:ext uri="{FF2B5EF4-FFF2-40B4-BE49-F238E27FC236}">
                <a16:creationId xmlns:a16="http://schemas.microsoft.com/office/drawing/2014/main" id="{50F3BC81-8A6C-3A0F-4AB9-6B3E038FC74D}"/>
              </a:ext>
            </a:extLst>
          </p:cNvPr>
          <p:cNvSpPr/>
          <p:nvPr/>
        </p:nvSpPr>
        <p:spPr>
          <a:xfrm>
            <a:off x="11075036" y="6040087"/>
            <a:ext cx="791051" cy="193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21000"/>
              </a:lnSpc>
              <a:buNone/>
            </a:pPr>
            <a:r>
              <a:rPr lang="en-US" sz="1050" kern="100" spc="84" dirty="0">
                <a:solidFill>
                  <a:srgbClr val="625950"/>
                </a:solidFill>
                <a:latin typeface="Geist Mono" pitchFamily="34" charset="0"/>
                <a:ea typeface="Geist Mono" pitchFamily="34" charset="-122"/>
                <a:cs typeface="Geist Mono" pitchFamily="34" charset="0"/>
              </a:rPr>
              <a:t>09</a:t>
            </a:r>
            <a:endParaRPr lang="en-US" sz="105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01D12FB5-F3A2-8684-5B24-7FC88CD03F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07159" y="6248347"/>
            <a:ext cx="1699407" cy="609653"/>
          </a:xfrm>
          <a:prstGeom prst="rect">
            <a:avLst/>
          </a:prstGeom>
        </p:spPr>
      </p:pic>
      <p:sp>
        <p:nvSpPr>
          <p:cNvPr id="21" name="Shape 7">
            <a:extLst>
              <a:ext uri="{FF2B5EF4-FFF2-40B4-BE49-F238E27FC236}">
                <a16:creationId xmlns:a16="http://schemas.microsoft.com/office/drawing/2014/main" id="{C2E6A65B-75C7-C772-4DEB-4C39C2D315F2}"/>
              </a:ext>
            </a:extLst>
          </p:cNvPr>
          <p:cNvSpPr/>
          <p:nvPr/>
        </p:nvSpPr>
        <p:spPr>
          <a:xfrm>
            <a:off x="701115" y="2396647"/>
            <a:ext cx="5492315" cy="9624"/>
          </a:xfrm>
          <a:prstGeom prst="roundRect">
            <a:avLst>
              <a:gd name="adj" fmla="val 50000"/>
            </a:avLst>
          </a:prstGeom>
          <a:solidFill>
            <a:srgbClr val="D8CBBA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23" name="Shape 7">
            <a:extLst>
              <a:ext uri="{FF2B5EF4-FFF2-40B4-BE49-F238E27FC236}">
                <a16:creationId xmlns:a16="http://schemas.microsoft.com/office/drawing/2014/main" id="{54A6C82C-DB31-5226-0946-A44CA2FCD635}"/>
              </a:ext>
            </a:extLst>
          </p:cNvPr>
          <p:cNvSpPr/>
          <p:nvPr/>
        </p:nvSpPr>
        <p:spPr>
          <a:xfrm>
            <a:off x="701115" y="4877246"/>
            <a:ext cx="5492315" cy="9624"/>
          </a:xfrm>
          <a:prstGeom prst="roundRect">
            <a:avLst>
              <a:gd name="adj" fmla="val 50000"/>
            </a:avLst>
          </a:prstGeom>
          <a:solidFill>
            <a:srgbClr val="D8CBBA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25" name="Shape 7">
            <a:extLst>
              <a:ext uri="{FF2B5EF4-FFF2-40B4-BE49-F238E27FC236}">
                <a16:creationId xmlns:a16="http://schemas.microsoft.com/office/drawing/2014/main" id="{73FA1C62-6B8F-9532-C104-0AC063BC998E}"/>
              </a:ext>
            </a:extLst>
          </p:cNvPr>
          <p:cNvSpPr/>
          <p:nvPr/>
        </p:nvSpPr>
        <p:spPr>
          <a:xfrm>
            <a:off x="701113" y="3978377"/>
            <a:ext cx="5492315" cy="9624"/>
          </a:xfrm>
          <a:prstGeom prst="roundRect">
            <a:avLst>
              <a:gd name="adj" fmla="val 50000"/>
            </a:avLst>
          </a:prstGeom>
          <a:solidFill>
            <a:srgbClr val="D8CBBA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27" name="Shape 7">
            <a:extLst>
              <a:ext uri="{FF2B5EF4-FFF2-40B4-BE49-F238E27FC236}">
                <a16:creationId xmlns:a16="http://schemas.microsoft.com/office/drawing/2014/main" id="{D6BEDD69-6E63-6A71-026B-1E1A9DE48CB8}"/>
              </a:ext>
            </a:extLst>
          </p:cNvPr>
          <p:cNvSpPr/>
          <p:nvPr/>
        </p:nvSpPr>
        <p:spPr>
          <a:xfrm>
            <a:off x="701115" y="3189749"/>
            <a:ext cx="5492315" cy="9624"/>
          </a:xfrm>
          <a:prstGeom prst="roundRect">
            <a:avLst>
              <a:gd name="adj" fmla="val 50000"/>
            </a:avLst>
          </a:prstGeom>
          <a:solidFill>
            <a:srgbClr val="D8CBBA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31" name="Shape 10">
            <a:extLst>
              <a:ext uri="{FF2B5EF4-FFF2-40B4-BE49-F238E27FC236}">
                <a16:creationId xmlns:a16="http://schemas.microsoft.com/office/drawing/2014/main" id="{4DC1AA4C-4519-1C95-6234-E4C81D9F86ED}"/>
              </a:ext>
            </a:extLst>
          </p:cNvPr>
          <p:cNvSpPr/>
          <p:nvPr/>
        </p:nvSpPr>
        <p:spPr>
          <a:xfrm>
            <a:off x="4967036" y="1526504"/>
            <a:ext cx="6698816" cy="4929958"/>
          </a:xfrm>
          <a:prstGeom prst="roundRect">
            <a:avLst>
              <a:gd name="adj" fmla="val 2902"/>
            </a:avLst>
          </a:prstGeom>
          <a:solidFill>
            <a:srgbClr val="EFE4D4"/>
          </a:solidFill>
          <a:ln/>
        </p:spPr>
        <p:txBody>
          <a:bodyPr/>
          <a:lstStyle/>
          <a:p>
            <a:endParaRPr lang="en-IN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589A8CE7-6BB1-33FB-6B7F-0F5D72500F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7731" y="1741722"/>
            <a:ext cx="6067305" cy="3414119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A67698D6-71C9-6764-3626-EFFCDE3CB223}"/>
              </a:ext>
            </a:extLst>
          </p:cNvPr>
          <p:cNvSpPr txBox="1"/>
          <p:nvPr/>
        </p:nvSpPr>
        <p:spPr>
          <a:xfrm>
            <a:off x="701113" y="1865232"/>
            <a:ext cx="6102220" cy="535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83000"/>
              </a:lnSpc>
            </a:pPr>
            <a:r>
              <a:rPr lang="en-US" sz="3400" kern="100" spc="-68" dirty="0">
                <a:solidFill>
                  <a:srgbClr val="0070C0"/>
                </a:solidFill>
                <a:latin typeface="Geist Medium" pitchFamily="34" charset="0"/>
                <a:ea typeface="Geist Medium" pitchFamily="34" charset="-122"/>
                <a:cs typeface="Geist Medium" pitchFamily="34" charset="0"/>
              </a:rPr>
              <a:t>2.72 M</a:t>
            </a:r>
            <a:endParaRPr lang="en-US" sz="3400" dirty="0">
              <a:solidFill>
                <a:srgbClr val="0070C0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1834C11-D984-11A6-8F5A-C7811B596A28}"/>
              </a:ext>
            </a:extLst>
          </p:cNvPr>
          <p:cNvSpPr txBox="1"/>
          <p:nvPr/>
        </p:nvSpPr>
        <p:spPr>
          <a:xfrm>
            <a:off x="701115" y="4314203"/>
            <a:ext cx="6102220" cy="535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83000"/>
              </a:lnSpc>
            </a:pPr>
            <a:r>
              <a:rPr lang="en-US" sz="3400" kern="100" spc="-68" dirty="0">
                <a:solidFill>
                  <a:srgbClr val="00B050"/>
                </a:solidFill>
                <a:latin typeface="Geist Medium" pitchFamily="34" charset="0"/>
                <a:ea typeface="Geist Medium" pitchFamily="34" charset="-122"/>
                <a:cs typeface="Geist Medium" pitchFamily="34" charset="0"/>
              </a:rPr>
              <a:t>95.42 %</a:t>
            </a:r>
            <a:endParaRPr lang="en-US" sz="3400" dirty="0">
              <a:solidFill>
                <a:srgbClr val="00B050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AE0D0B0-21AC-D0BA-55D2-E3BB1431C032}"/>
              </a:ext>
            </a:extLst>
          </p:cNvPr>
          <p:cNvSpPr txBox="1"/>
          <p:nvPr/>
        </p:nvSpPr>
        <p:spPr>
          <a:xfrm>
            <a:off x="701115" y="2673486"/>
            <a:ext cx="6102220" cy="535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3400" kern="100" spc="-68" dirty="0">
                <a:solidFill>
                  <a:srgbClr val="002060"/>
                </a:solidFill>
                <a:latin typeface="Geist Medium" pitchFamily="34" charset="0"/>
                <a:ea typeface="Geist Medium" pitchFamily="34" charset="-122"/>
                <a:cs typeface="Geist Medium" pitchFamily="34" charset="0"/>
              </a:rPr>
              <a:t>2.86 M</a:t>
            </a:r>
            <a:endParaRPr lang="en-US" sz="3400" dirty="0">
              <a:solidFill>
                <a:srgbClr val="002060"/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A3D3A14-7E0D-9F27-FEA4-DD3150173A3D}"/>
              </a:ext>
            </a:extLst>
          </p:cNvPr>
          <p:cNvSpPr txBox="1"/>
          <p:nvPr/>
        </p:nvSpPr>
        <p:spPr>
          <a:xfrm>
            <a:off x="701113" y="3450993"/>
            <a:ext cx="6102220" cy="535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3400" kern="100" spc="-68" dirty="0">
                <a:solidFill>
                  <a:srgbClr val="FF0000"/>
                </a:solidFill>
                <a:latin typeface="Geist Medium" pitchFamily="34" charset="0"/>
                <a:ea typeface="Geist Medium" pitchFamily="34" charset="-122"/>
                <a:cs typeface="Geist Medium" pitchFamily="34" charset="0"/>
              </a:rPr>
              <a:t>-130.91 K</a:t>
            </a:r>
            <a:endParaRPr lang="en-US" sz="3400" dirty="0">
              <a:solidFill>
                <a:srgbClr val="FF0000"/>
              </a:solidFill>
            </a:endParaRPr>
          </a:p>
        </p:txBody>
      </p:sp>
      <p:sp>
        <p:nvSpPr>
          <p:cNvPr id="47" name="Shape 14">
            <a:extLst>
              <a:ext uri="{FF2B5EF4-FFF2-40B4-BE49-F238E27FC236}">
                <a16:creationId xmlns:a16="http://schemas.microsoft.com/office/drawing/2014/main" id="{2A36B951-06D9-22BE-CC04-63B5FB8EA2FE}"/>
              </a:ext>
            </a:extLst>
          </p:cNvPr>
          <p:cNvSpPr/>
          <p:nvPr/>
        </p:nvSpPr>
        <p:spPr>
          <a:xfrm>
            <a:off x="513184" y="4990606"/>
            <a:ext cx="4395012" cy="1436984"/>
          </a:xfrm>
          <a:prstGeom prst="roundRect">
            <a:avLst>
              <a:gd name="adj" fmla="val 2902"/>
            </a:avLst>
          </a:prstGeom>
          <a:solidFill>
            <a:srgbClr val="EFE4D4"/>
          </a:solidFill>
          <a:ln/>
        </p:spPr>
        <p:txBody>
          <a:bodyPr/>
          <a:lstStyle/>
          <a:p>
            <a:endParaRPr lang="en-IN" sz="1400" i="1" dirty="0">
              <a:latin typeface="Geist" charset="0"/>
              <a:ea typeface="Geist" charset="0"/>
              <a:cs typeface="Geist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929E26D-B7B6-C322-6353-8384D92BDDD9}"/>
              </a:ext>
            </a:extLst>
          </p:cNvPr>
          <p:cNvSpPr txBox="1"/>
          <p:nvPr/>
        </p:nvSpPr>
        <p:spPr>
          <a:xfrm>
            <a:off x="643029" y="5287166"/>
            <a:ext cx="6102220" cy="336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00" dirty="0">
                <a:solidFill>
                  <a:srgbClr val="3A332D"/>
                </a:solidFill>
                <a:latin typeface="Geist" pitchFamily="34" charset="0"/>
                <a:ea typeface="Geist" pitchFamily="34" charset="-122"/>
                <a:cs typeface="Geist" pitchFamily="34" charset="0"/>
              </a:rPr>
              <a:t>Drilldown: Plant → Line → Year → Quarter → Month</a:t>
            </a:r>
            <a:endParaRPr lang="en-US" sz="1400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3B2944A-622E-5E66-4E20-8694F3E89EB7}"/>
              </a:ext>
            </a:extLst>
          </p:cNvPr>
          <p:cNvSpPr txBox="1"/>
          <p:nvPr/>
        </p:nvSpPr>
        <p:spPr>
          <a:xfrm>
            <a:off x="4967036" y="5243162"/>
            <a:ext cx="669881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Geist" charset="0"/>
                <a:ea typeface="Geist" charset="0"/>
                <a:cs typeface="Geist" charset="0"/>
              </a:rPr>
              <a:t>This dashboard </a:t>
            </a:r>
            <a:r>
              <a:rPr lang="en-IN" sz="1600" dirty="0" err="1">
                <a:latin typeface="Geist" charset="0"/>
                <a:ea typeface="Geist" charset="0"/>
                <a:cs typeface="Geist" charset="0"/>
              </a:rPr>
              <a:t>analyzes</a:t>
            </a:r>
            <a:r>
              <a:rPr lang="en-IN" sz="1600" dirty="0">
                <a:latin typeface="Geist" charset="0"/>
                <a:ea typeface="Geist" charset="0"/>
                <a:cs typeface="Geist" charset="0"/>
              </a:rPr>
              <a:t> production targets versus actual output using KPIs such as Production Quantity, Variance, and Achievement %, with drill-down from Plant to Month level.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600" dirty="0">
              <a:latin typeface="Geist" charset="0"/>
              <a:ea typeface="Geist" charset="0"/>
              <a:cs typeface="Geist" charset="0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6E2731E-F402-AE8C-FB5A-A0BFB67B4922}"/>
              </a:ext>
            </a:extLst>
          </p:cNvPr>
          <p:cNvSpPr txBox="1"/>
          <p:nvPr/>
        </p:nvSpPr>
        <p:spPr>
          <a:xfrm>
            <a:off x="513184" y="5678696"/>
            <a:ext cx="61022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i="1" dirty="0">
                <a:latin typeface="Geist" charset="0"/>
                <a:ea typeface="Geist" charset="0"/>
                <a:cs typeface="Geist" charset="0"/>
              </a:rPr>
              <a:t>Planned Vs Actual Production by Plant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4BBA9D2-3D64-AFB1-E5AB-4642B2442078}"/>
              </a:ext>
            </a:extLst>
          </p:cNvPr>
          <p:cNvSpPr txBox="1"/>
          <p:nvPr/>
        </p:nvSpPr>
        <p:spPr>
          <a:xfrm>
            <a:off x="734643" y="5965335"/>
            <a:ext cx="6102220" cy="336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00" dirty="0">
                <a:solidFill>
                  <a:srgbClr val="3A332D"/>
                </a:solidFill>
                <a:latin typeface="Geist" pitchFamily="34" charset="0"/>
                <a:ea typeface="Geist" pitchFamily="34" charset="-122"/>
                <a:cs typeface="Geist" pitchFamily="34" charset="0"/>
              </a:rPr>
              <a:t>Drilldown: Plant →  Year  </a:t>
            </a:r>
            <a:endParaRPr lang="en-US" sz="1400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17DFA89-237C-70F7-C4F3-D5AFF702508C}"/>
              </a:ext>
            </a:extLst>
          </p:cNvPr>
          <p:cNvSpPr txBox="1"/>
          <p:nvPr/>
        </p:nvSpPr>
        <p:spPr>
          <a:xfrm>
            <a:off x="513183" y="5022497"/>
            <a:ext cx="206338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i="1" dirty="0">
                <a:latin typeface="Geist" charset="0"/>
                <a:ea typeface="Geist" charset="0"/>
                <a:cs typeface="Geist" charset="0"/>
              </a:rPr>
              <a:t>Produced Qty by Plant</a:t>
            </a:r>
            <a:endParaRPr lang="en-IN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7">
            <a:extLst>
              <a:ext uri="{FF2B5EF4-FFF2-40B4-BE49-F238E27FC236}">
                <a16:creationId xmlns:a16="http://schemas.microsoft.com/office/drawing/2014/main" id="{28852BBB-71F8-B25B-162E-EDAE5BBB7724}"/>
              </a:ext>
            </a:extLst>
          </p:cNvPr>
          <p:cNvSpPr/>
          <p:nvPr/>
        </p:nvSpPr>
        <p:spPr>
          <a:xfrm>
            <a:off x="11103188" y="6048137"/>
            <a:ext cx="791051" cy="193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21000"/>
              </a:lnSpc>
              <a:buNone/>
            </a:pPr>
            <a:r>
              <a:rPr lang="en-US" sz="1050" kern="100" spc="84" dirty="0">
                <a:solidFill>
                  <a:srgbClr val="625950"/>
                </a:solidFill>
                <a:latin typeface="Geist Mono" pitchFamily="34" charset="0"/>
                <a:ea typeface="Geist Mono" pitchFamily="34" charset="-122"/>
                <a:cs typeface="Geist Mono" pitchFamily="34" charset="0"/>
              </a:rPr>
              <a:t>10</a:t>
            </a:r>
            <a:endParaRPr lang="en-US" sz="105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141040B-690F-39D2-2631-D298B3259A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7159" y="6248347"/>
            <a:ext cx="1699407" cy="609653"/>
          </a:xfrm>
          <a:prstGeom prst="rect">
            <a:avLst/>
          </a:prstGeom>
        </p:spPr>
      </p:pic>
      <p:sp>
        <p:nvSpPr>
          <p:cNvPr id="7" name="Text 0">
            <a:extLst>
              <a:ext uri="{FF2B5EF4-FFF2-40B4-BE49-F238E27FC236}">
                <a16:creationId xmlns:a16="http://schemas.microsoft.com/office/drawing/2014/main" id="{EFC46117-B992-9D65-E512-9D04F819D1FD}"/>
              </a:ext>
            </a:extLst>
          </p:cNvPr>
          <p:cNvSpPr/>
          <p:nvPr/>
        </p:nvSpPr>
        <p:spPr>
          <a:xfrm>
            <a:off x="761985" y="659604"/>
            <a:ext cx="11582110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100" spc="88" dirty="0">
                <a:solidFill>
                  <a:srgbClr val="625950"/>
                </a:solidFill>
                <a:latin typeface="Geist Mono Medium" pitchFamily="34" charset="0"/>
                <a:ea typeface="Geist Mono Medium" pitchFamily="34" charset="-122"/>
                <a:cs typeface="Geist Mono Medium" pitchFamily="34" charset="0"/>
              </a:rPr>
              <a:t>QUALITY</a:t>
            </a:r>
            <a:endParaRPr lang="en-US" sz="1100" dirty="0"/>
          </a:p>
        </p:txBody>
      </p:sp>
      <p:sp>
        <p:nvSpPr>
          <p:cNvPr id="9" name="Text 1">
            <a:extLst>
              <a:ext uri="{FF2B5EF4-FFF2-40B4-BE49-F238E27FC236}">
                <a16:creationId xmlns:a16="http://schemas.microsoft.com/office/drawing/2014/main" id="{9187AA2A-C241-123B-31F3-0ACB5BCD0025}"/>
              </a:ext>
            </a:extLst>
          </p:cNvPr>
          <p:cNvSpPr/>
          <p:nvPr/>
        </p:nvSpPr>
        <p:spPr>
          <a:xfrm>
            <a:off x="757123" y="965611"/>
            <a:ext cx="10972526" cy="466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400" kern="100" spc="-85" dirty="0">
                <a:solidFill>
                  <a:srgbClr val="1E1A17"/>
                </a:solidFill>
                <a:latin typeface="Geist Medium" pitchFamily="34" charset="0"/>
                <a:ea typeface="Geist Medium" pitchFamily="34" charset="-122"/>
                <a:cs typeface="Geist Medium" pitchFamily="34" charset="0"/>
              </a:rPr>
              <a:t>Quality analytics makes defects actionable</a:t>
            </a:r>
            <a:endParaRPr lang="en-US" sz="3400" dirty="0"/>
          </a:p>
        </p:txBody>
      </p:sp>
      <p:sp>
        <p:nvSpPr>
          <p:cNvPr id="11" name="Text 2">
            <a:extLst>
              <a:ext uri="{FF2B5EF4-FFF2-40B4-BE49-F238E27FC236}">
                <a16:creationId xmlns:a16="http://schemas.microsoft.com/office/drawing/2014/main" id="{70AA768D-8CDF-6C59-4F9A-9A3DD10C175C}"/>
              </a:ext>
            </a:extLst>
          </p:cNvPr>
          <p:cNvSpPr/>
          <p:nvPr/>
        </p:nvSpPr>
        <p:spPr>
          <a:xfrm>
            <a:off x="761985" y="1549410"/>
            <a:ext cx="3149521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100" spc="88" dirty="0">
                <a:solidFill>
                  <a:srgbClr val="625950"/>
                </a:solidFill>
                <a:latin typeface="Geist Mono Medium" pitchFamily="34" charset="0"/>
                <a:ea typeface="Geist Mono Medium" pitchFamily="34" charset="-122"/>
                <a:cs typeface="Geist Mono Medium" pitchFamily="34" charset="0"/>
              </a:rPr>
              <a:t>TOTAL INSPECTIONS</a:t>
            </a:r>
            <a:endParaRPr lang="en-US" sz="1100" dirty="0"/>
          </a:p>
        </p:txBody>
      </p:sp>
      <p:sp>
        <p:nvSpPr>
          <p:cNvPr id="13" name="Text 3">
            <a:extLst>
              <a:ext uri="{FF2B5EF4-FFF2-40B4-BE49-F238E27FC236}">
                <a16:creationId xmlns:a16="http://schemas.microsoft.com/office/drawing/2014/main" id="{87DC8907-E989-2C4D-1640-7448413A2AE4}"/>
              </a:ext>
            </a:extLst>
          </p:cNvPr>
          <p:cNvSpPr/>
          <p:nvPr/>
        </p:nvSpPr>
        <p:spPr>
          <a:xfrm>
            <a:off x="761985" y="1781555"/>
            <a:ext cx="3456122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3000"/>
              </a:lnSpc>
              <a:buNone/>
            </a:pPr>
            <a:endParaRPr lang="en-US" sz="3400" dirty="0"/>
          </a:p>
        </p:txBody>
      </p:sp>
      <p:sp>
        <p:nvSpPr>
          <p:cNvPr id="17" name="Text 5">
            <a:extLst>
              <a:ext uri="{FF2B5EF4-FFF2-40B4-BE49-F238E27FC236}">
                <a16:creationId xmlns:a16="http://schemas.microsoft.com/office/drawing/2014/main" id="{165AE995-8EEB-1B41-457D-9A6AD05D4FEE}"/>
              </a:ext>
            </a:extLst>
          </p:cNvPr>
          <p:cNvSpPr/>
          <p:nvPr/>
        </p:nvSpPr>
        <p:spPr>
          <a:xfrm>
            <a:off x="757123" y="2484014"/>
            <a:ext cx="2946426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100" spc="88" dirty="0">
                <a:solidFill>
                  <a:srgbClr val="625950"/>
                </a:solidFill>
                <a:latin typeface="Geist Mono Medium" pitchFamily="34" charset="0"/>
                <a:ea typeface="Geist Mono Medium" pitchFamily="34" charset="-122"/>
                <a:cs typeface="Geist Mono Medium" pitchFamily="34" charset="0"/>
              </a:rPr>
              <a:t>PASS RATE %</a:t>
            </a:r>
            <a:endParaRPr lang="en-US" sz="1100" dirty="0"/>
          </a:p>
        </p:txBody>
      </p:sp>
      <p:sp>
        <p:nvSpPr>
          <p:cNvPr id="19" name="Text 6">
            <a:extLst>
              <a:ext uri="{FF2B5EF4-FFF2-40B4-BE49-F238E27FC236}">
                <a16:creationId xmlns:a16="http://schemas.microsoft.com/office/drawing/2014/main" id="{6A84D67B-B378-39EC-1643-2DD900D5E9A0}"/>
              </a:ext>
            </a:extLst>
          </p:cNvPr>
          <p:cNvSpPr/>
          <p:nvPr/>
        </p:nvSpPr>
        <p:spPr>
          <a:xfrm>
            <a:off x="761985" y="2710648"/>
            <a:ext cx="2336841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3200" kern="100" spc="-68" dirty="0">
                <a:solidFill>
                  <a:srgbClr val="00B050"/>
                </a:solidFill>
                <a:latin typeface="Geist Medium" pitchFamily="34" charset="0"/>
                <a:ea typeface="Geist Medium" pitchFamily="34" charset="-122"/>
                <a:cs typeface="Geist Medium" pitchFamily="34" charset="0"/>
              </a:rPr>
              <a:t>97.65%</a:t>
            </a:r>
            <a:endParaRPr lang="en-US" sz="3200" dirty="0">
              <a:solidFill>
                <a:srgbClr val="00B050"/>
              </a:solidFill>
            </a:endParaRPr>
          </a:p>
        </p:txBody>
      </p:sp>
      <p:sp>
        <p:nvSpPr>
          <p:cNvPr id="23" name="Text 8">
            <a:extLst>
              <a:ext uri="{FF2B5EF4-FFF2-40B4-BE49-F238E27FC236}">
                <a16:creationId xmlns:a16="http://schemas.microsoft.com/office/drawing/2014/main" id="{C75686B6-E8AA-3C26-40F0-B94BF7274C7E}"/>
              </a:ext>
            </a:extLst>
          </p:cNvPr>
          <p:cNvSpPr/>
          <p:nvPr/>
        </p:nvSpPr>
        <p:spPr>
          <a:xfrm>
            <a:off x="757123" y="3368996"/>
            <a:ext cx="2946426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100" spc="88" dirty="0">
                <a:solidFill>
                  <a:srgbClr val="625950"/>
                </a:solidFill>
                <a:latin typeface="Geist Mono Medium" pitchFamily="34" charset="0"/>
                <a:ea typeface="Geist Mono Medium" pitchFamily="34" charset="-122"/>
                <a:cs typeface="Geist Mono Medium" pitchFamily="34" charset="0"/>
              </a:rPr>
              <a:t>DEFECT RATE %</a:t>
            </a:r>
            <a:endParaRPr lang="en-US" sz="1100" dirty="0"/>
          </a:p>
        </p:txBody>
      </p:sp>
      <p:sp>
        <p:nvSpPr>
          <p:cNvPr id="25" name="Text 9">
            <a:extLst>
              <a:ext uri="{FF2B5EF4-FFF2-40B4-BE49-F238E27FC236}">
                <a16:creationId xmlns:a16="http://schemas.microsoft.com/office/drawing/2014/main" id="{1CE6EA27-5011-A756-0EBF-F44FDD588555}"/>
              </a:ext>
            </a:extLst>
          </p:cNvPr>
          <p:cNvSpPr/>
          <p:nvPr/>
        </p:nvSpPr>
        <p:spPr>
          <a:xfrm>
            <a:off x="757123" y="3647925"/>
            <a:ext cx="282097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3200" kern="100" spc="-68" dirty="0">
                <a:solidFill>
                  <a:srgbClr val="FF0000"/>
                </a:solidFill>
                <a:latin typeface="Geist Medium" pitchFamily="34" charset="0"/>
                <a:ea typeface="Geist Medium" pitchFamily="34" charset="-122"/>
                <a:cs typeface="Geist Medium" pitchFamily="34" charset="0"/>
              </a:rPr>
              <a:t>2.35%</a:t>
            </a:r>
            <a:endParaRPr lang="en-US" sz="3200" dirty="0">
              <a:solidFill>
                <a:srgbClr val="FF0000"/>
              </a:solidFill>
            </a:endParaRPr>
          </a:p>
        </p:txBody>
      </p:sp>
      <p:sp>
        <p:nvSpPr>
          <p:cNvPr id="29" name="Text 11">
            <a:extLst>
              <a:ext uri="{FF2B5EF4-FFF2-40B4-BE49-F238E27FC236}">
                <a16:creationId xmlns:a16="http://schemas.microsoft.com/office/drawing/2014/main" id="{1898B8CA-949F-FFC2-E9ED-5D85E057BD7B}"/>
              </a:ext>
            </a:extLst>
          </p:cNvPr>
          <p:cNvSpPr/>
          <p:nvPr/>
        </p:nvSpPr>
        <p:spPr>
          <a:xfrm>
            <a:off x="757123" y="4234877"/>
            <a:ext cx="3149521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100" spc="88" dirty="0">
                <a:solidFill>
                  <a:srgbClr val="625950"/>
                </a:solidFill>
                <a:latin typeface="Geist Mono Medium" pitchFamily="34" charset="0"/>
                <a:ea typeface="Geist Mono Medium" pitchFamily="34" charset="-122"/>
                <a:cs typeface="Geist Mono Medium" pitchFamily="34" charset="0"/>
              </a:rPr>
              <a:t>TOTAL DEFECT QTY</a:t>
            </a:r>
            <a:endParaRPr lang="en-US" sz="1100" dirty="0"/>
          </a:p>
        </p:txBody>
      </p:sp>
      <p:sp>
        <p:nvSpPr>
          <p:cNvPr id="31" name="Text 12">
            <a:extLst>
              <a:ext uri="{FF2B5EF4-FFF2-40B4-BE49-F238E27FC236}">
                <a16:creationId xmlns:a16="http://schemas.microsoft.com/office/drawing/2014/main" id="{AFB7AC2D-8867-8D40-DBBA-82BE95D50532}"/>
              </a:ext>
            </a:extLst>
          </p:cNvPr>
          <p:cNvSpPr/>
          <p:nvPr/>
        </p:nvSpPr>
        <p:spPr>
          <a:xfrm>
            <a:off x="761984" y="4474519"/>
            <a:ext cx="3390137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3000"/>
              </a:lnSpc>
              <a:buNone/>
            </a:pPr>
            <a:endParaRPr lang="en-US" sz="3400" dirty="0"/>
          </a:p>
        </p:txBody>
      </p:sp>
      <p:sp>
        <p:nvSpPr>
          <p:cNvPr id="33" name="Text 13">
            <a:extLst>
              <a:ext uri="{FF2B5EF4-FFF2-40B4-BE49-F238E27FC236}">
                <a16:creationId xmlns:a16="http://schemas.microsoft.com/office/drawing/2014/main" id="{4EFE76D7-C80D-AC48-100F-F4A54D56A729}"/>
              </a:ext>
            </a:extLst>
          </p:cNvPr>
          <p:cNvSpPr/>
          <p:nvPr/>
        </p:nvSpPr>
        <p:spPr>
          <a:xfrm>
            <a:off x="701115" y="5338566"/>
            <a:ext cx="6918747" cy="313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endParaRPr lang="en-US" sz="1700" dirty="0"/>
          </a:p>
        </p:txBody>
      </p:sp>
      <p:sp>
        <p:nvSpPr>
          <p:cNvPr id="37" name="Text 15">
            <a:extLst>
              <a:ext uri="{FF2B5EF4-FFF2-40B4-BE49-F238E27FC236}">
                <a16:creationId xmlns:a16="http://schemas.microsoft.com/office/drawing/2014/main" id="{96AABF09-FCD5-1D8D-B48A-251F91A2E9B2}"/>
              </a:ext>
            </a:extLst>
          </p:cNvPr>
          <p:cNvSpPr/>
          <p:nvPr/>
        </p:nvSpPr>
        <p:spPr>
          <a:xfrm>
            <a:off x="7782032" y="4464209"/>
            <a:ext cx="3698485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endParaRPr lang="en-US" sz="1200" dirty="0"/>
          </a:p>
        </p:txBody>
      </p:sp>
      <p:sp>
        <p:nvSpPr>
          <p:cNvPr id="39" name="Text 16">
            <a:extLst>
              <a:ext uri="{FF2B5EF4-FFF2-40B4-BE49-F238E27FC236}">
                <a16:creationId xmlns:a16="http://schemas.microsoft.com/office/drawing/2014/main" id="{9473E659-84B1-CE33-AEB6-D20612A34CF5}"/>
              </a:ext>
            </a:extLst>
          </p:cNvPr>
          <p:cNvSpPr/>
          <p:nvPr/>
        </p:nvSpPr>
        <p:spPr>
          <a:xfrm>
            <a:off x="11362449" y="6608862"/>
            <a:ext cx="791051" cy="193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21000"/>
              </a:lnSpc>
              <a:buNone/>
            </a:pPr>
            <a:r>
              <a:rPr lang="en-US" sz="1050" kern="100" spc="84" dirty="0">
                <a:solidFill>
                  <a:srgbClr val="625950"/>
                </a:solidFill>
                <a:latin typeface="Geist Mono" pitchFamily="34" charset="0"/>
                <a:ea typeface="Geist Mono" pitchFamily="34" charset="-122"/>
                <a:cs typeface="Geist Mono" pitchFamily="34" charset="0"/>
              </a:rPr>
              <a:t>10</a:t>
            </a:r>
            <a:endParaRPr lang="en-US" sz="1050" dirty="0"/>
          </a:p>
        </p:txBody>
      </p:sp>
      <p:sp>
        <p:nvSpPr>
          <p:cNvPr id="41" name="Text 17">
            <a:extLst>
              <a:ext uri="{FF2B5EF4-FFF2-40B4-BE49-F238E27FC236}">
                <a16:creationId xmlns:a16="http://schemas.microsoft.com/office/drawing/2014/main" id="{11828E4E-2723-F259-B7DD-273B2EC9D585}"/>
              </a:ext>
            </a:extLst>
          </p:cNvPr>
          <p:cNvSpPr/>
          <p:nvPr/>
        </p:nvSpPr>
        <p:spPr>
          <a:xfrm>
            <a:off x="11255588" y="6200537"/>
            <a:ext cx="791051" cy="193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21000"/>
              </a:lnSpc>
              <a:buNone/>
            </a:pPr>
            <a:r>
              <a:rPr lang="en-US" sz="1050" kern="100" spc="84" dirty="0">
                <a:solidFill>
                  <a:srgbClr val="625950"/>
                </a:solidFill>
                <a:latin typeface="Geist Mono" pitchFamily="34" charset="0"/>
                <a:ea typeface="Geist Mono" pitchFamily="34" charset="-122"/>
                <a:cs typeface="Geist Mono" pitchFamily="34" charset="0"/>
              </a:rPr>
              <a:t>10</a:t>
            </a:r>
            <a:endParaRPr lang="en-US" sz="1050" dirty="0"/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4E8601FE-F9EA-8111-AC45-534FA8DC60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4542" y="6229459"/>
            <a:ext cx="1699407" cy="609653"/>
          </a:xfrm>
          <a:prstGeom prst="rect">
            <a:avLst/>
          </a:prstGeom>
        </p:spPr>
      </p:pic>
      <p:sp>
        <p:nvSpPr>
          <p:cNvPr id="45" name="Shape 7">
            <a:extLst>
              <a:ext uri="{FF2B5EF4-FFF2-40B4-BE49-F238E27FC236}">
                <a16:creationId xmlns:a16="http://schemas.microsoft.com/office/drawing/2014/main" id="{F3639D58-3894-10EF-DC74-CEE36B8E2F55}"/>
              </a:ext>
            </a:extLst>
          </p:cNvPr>
          <p:cNvSpPr/>
          <p:nvPr/>
        </p:nvSpPr>
        <p:spPr>
          <a:xfrm>
            <a:off x="701114" y="2325254"/>
            <a:ext cx="5492315" cy="9624"/>
          </a:xfrm>
          <a:prstGeom prst="roundRect">
            <a:avLst>
              <a:gd name="adj" fmla="val 50000"/>
            </a:avLst>
          </a:prstGeom>
          <a:solidFill>
            <a:srgbClr val="D8CBBA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47" name="Shape 7">
            <a:extLst>
              <a:ext uri="{FF2B5EF4-FFF2-40B4-BE49-F238E27FC236}">
                <a16:creationId xmlns:a16="http://schemas.microsoft.com/office/drawing/2014/main" id="{21615EB0-DD7B-3D46-D5E1-52AFC263EE48}"/>
              </a:ext>
            </a:extLst>
          </p:cNvPr>
          <p:cNvSpPr/>
          <p:nvPr/>
        </p:nvSpPr>
        <p:spPr>
          <a:xfrm>
            <a:off x="701115" y="3189749"/>
            <a:ext cx="5492315" cy="9624"/>
          </a:xfrm>
          <a:prstGeom prst="roundRect">
            <a:avLst>
              <a:gd name="adj" fmla="val 50000"/>
            </a:avLst>
          </a:prstGeom>
          <a:solidFill>
            <a:srgbClr val="D8CBBA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49" name="Shape 7">
            <a:extLst>
              <a:ext uri="{FF2B5EF4-FFF2-40B4-BE49-F238E27FC236}">
                <a16:creationId xmlns:a16="http://schemas.microsoft.com/office/drawing/2014/main" id="{2555F8A3-14C0-44D5-CB3E-4851EE522069}"/>
              </a:ext>
            </a:extLst>
          </p:cNvPr>
          <p:cNvSpPr/>
          <p:nvPr/>
        </p:nvSpPr>
        <p:spPr>
          <a:xfrm>
            <a:off x="701115" y="4175619"/>
            <a:ext cx="5492315" cy="9624"/>
          </a:xfrm>
          <a:prstGeom prst="roundRect">
            <a:avLst>
              <a:gd name="adj" fmla="val 50000"/>
            </a:avLst>
          </a:prstGeom>
          <a:solidFill>
            <a:srgbClr val="D8CBBA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51" name="Shape 7">
            <a:extLst>
              <a:ext uri="{FF2B5EF4-FFF2-40B4-BE49-F238E27FC236}">
                <a16:creationId xmlns:a16="http://schemas.microsoft.com/office/drawing/2014/main" id="{7D5B2328-C836-4CF8-2305-C2D183A9A731}"/>
              </a:ext>
            </a:extLst>
          </p:cNvPr>
          <p:cNvSpPr/>
          <p:nvPr/>
        </p:nvSpPr>
        <p:spPr>
          <a:xfrm>
            <a:off x="701115" y="5039219"/>
            <a:ext cx="5492315" cy="9624"/>
          </a:xfrm>
          <a:prstGeom prst="roundRect">
            <a:avLst>
              <a:gd name="adj" fmla="val 50000"/>
            </a:avLst>
          </a:prstGeom>
          <a:solidFill>
            <a:srgbClr val="D8CBBA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53" name="Shape 14">
            <a:extLst>
              <a:ext uri="{FF2B5EF4-FFF2-40B4-BE49-F238E27FC236}">
                <a16:creationId xmlns:a16="http://schemas.microsoft.com/office/drawing/2014/main" id="{2B041F53-48D9-9FB5-1363-E87BBBDB7BFF}"/>
              </a:ext>
            </a:extLst>
          </p:cNvPr>
          <p:cNvSpPr/>
          <p:nvPr/>
        </p:nvSpPr>
        <p:spPr>
          <a:xfrm>
            <a:off x="5047869" y="1493332"/>
            <a:ext cx="6615395" cy="4900483"/>
          </a:xfrm>
          <a:prstGeom prst="roundRect">
            <a:avLst>
              <a:gd name="adj" fmla="val 2902"/>
            </a:avLst>
          </a:prstGeom>
          <a:solidFill>
            <a:srgbClr val="EFE4D4"/>
          </a:solidFill>
          <a:ln/>
        </p:spPr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03A2D731-B414-CF05-903B-719FB8D00F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8483" y="1695150"/>
            <a:ext cx="6202401" cy="3275330"/>
          </a:xfrm>
          <a:prstGeom prst="rect">
            <a:avLst/>
          </a:prstGeom>
        </p:spPr>
      </p:pic>
      <p:sp>
        <p:nvSpPr>
          <p:cNvPr id="56" name="TextBox 55">
            <a:extLst>
              <a:ext uri="{FF2B5EF4-FFF2-40B4-BE49-F238E27FC236}">
                <a16:creationId xmlns:a16="http://schemas.microsoft.com/office/drawing/2014/main" id="{AC6D3717-C7D8-B980-93CA-D078C605D5D0}"/>
              </a:ext>
            </a:extLst>
          </p:cNvPr>
          <p:cNvSpPr txBox="1"/>
          <p:nvPr/>
        </p:nvSpPr>
        <p:spPr>
          <a:xfrm>
            <a:off x="701114" y="1824038"/>
            <a:ext cx="6172200" cy="5098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3200" kern="100" spc="-68" dirty="0">
                <a:solidFill>
                  <a:srgbClr val="0070C0"/>
                </a:solidFill>
                <a:latin typeface="Geist Medium" pitchFamily="34" charset="0"/>
                <a:ea typeface="Geist Medium" pitchFamily="34" charset="-122"/>
                <a:cs typeface="Geist Medium" pitchFamily="34" charset="0"/>
              </a:rPr>
              <a:t>2.68 M</a:t>
            </a:r>
            <a:endParaRPr lang="en-US" sz="3200" dirty="0">
              <a:solidFill>
                <a:srgbClr val="0070C0"/>
              </a:solidFill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90AC16E-D690-856D-C3E2-C31B0FF22B6F}"/>
              </a:ext>
            </a:extLst>
          </p:cNvPr>
          <p:cNvSpPr txBox="1"/>
          <p:nvPr/>
        </p:nvSpPr>
        <p:spPr>
          <a:xfrm>
            <a:off x="701114" y="4401898"/>
            <a:ext cx="6172200" cy="535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3400" kern="100" spc="-68" dirty="0">
                <a:solidFill>
                  <a:schemeClr val="accent2"/>
                </a:solidFill>
                <a:latin typeface="Geist Medium" pitchFamily="34" charset="0"/>
                <a:ea typeface="Geist Medium" pitchFamily="34" charset="-122"/>
                <a:cs typeface="Geist Medium" pitchFamily="34" charset="0"/>
              </a:rPr>
              <a:t>62.97 K</a:t>
            </a:r>
            <a:endParaRPr lang="en-US" sz="3400" dirty="0">
              <a:solidFill>
                <a:schemeClr val="accent2"/>
              </a:solidFill>
            </a:endParaRPr>
          </a:p>
        </p:txBody>
      </p:sp>
      <p:sp>
        <p:nvSpPr>
          <p:cNvPr id="60" name="Shape 14">
            <a:extLst>
              <a:ext uri="{FF2B5EF4-FFF2-40B4-BE49-F238E27FC236}">
                <a16:creationId xmlns:a16="http://schemas.microsoft.com/office/drawing/2014/main" id="{9A067463-C2D9-F7F6-FB74-AE539457CECF}"/>
              </a:ext>
            </a:extLst>
          </p:cNvPr>
          <p:cNvSpPr/>
          <p:nvPr/>
        </p:nvSpPr>
        <p:spPr>
          <a:xfrm>
            <a:off x="701114" y="5266810"/>
            <a:ext cx="4260324" cy="625579"/>
          </a:xfrm>
          <a:prstGeom prst="roundRect">
            <a:avLst>
              <a:gd name="adj" fmla="val 2902"/>
            </a:avLst>
          </a:prstGeom>
          <a:solidFill>
            <a:srgbClr val="EFE4D4"/>
          </a:solidFill>
          <a:ln/>
        </p:spPr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4D4B1475-77CA-E168-E06B-38FC232AC47C}"/>
              </a:ext>
            </a:extLst>
          </p:cNvPr>
          <p:cNvSpPr txBox="1"/>
          <p:nvPr/>
        </p:nvSpPr>
        <p:spPr>
          <a:xfrm>
            <a:off x="855296" y="5472669"/>
            <a:ext cx="4346756" cy="388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3A332D"/>
                </a:solidFill>
                <a:latin typeface="Geist" pitchFamily="34" charset="0"/>
                <a:ea typeface="Geist" pitchFamily="34" charset="-122"/>
                <a:cs typeface="Geist" pitchFamily="34" charset="0"/>
              </a:rPr>
              <a:t>Drilldown: Plant → Defect Type → Year</a:t>
            </a:r>
            <a:endParaRPr lang="en-US" sz="1700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47E44671-F606-9B4B-208A-9E93E3CC6930}"/>
              </a:ext>
            </a:extLst>
          </p:cNvPr>
          <p:cNvSpPr txBox="1"/>
          <p:nvPr/>
        </p:nvSpPr>
        <p:spPr>
          <a:xfrm>
            <a:off x="5277985" y="5095193"/>
            <a:ext cx="619203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Geist" charset="0"/>
                <a:ea typeface="Geist" charset="0"/>
                <a:cs typeface="Geist" charset="0"/>
              </a:rPr>
              <a:t>This dashboard monitors inspections, pass rates, defect rates, and defect quantities.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Geist" charset="0"/>
                <a:ea typeface="Geist" charset="0"/>
                <a:cs typeface="Geist" charset="0"/>
              </a:rPr>
              <a:t>The drill-down functionality enables users to </a:t>
            </a:r>
            <a:r>
              <a:rPr lang="en-IN" sz="1600" dirty="0" err="1">
                <a:latin typeface="Geist" charset="0"/>
                <a:ea typeface="Geist" charset="0"/>
                <a:cs typeface="Geist" charset="0"/>
              </a:rPr>
              <a:t>analyze</a:t>
            </a:r>
            <a:r>
              <a:rPr lang="en-IN" sz="1600" dirty="0">
                <a:latin typeface="Geist" charset="0"/>
                <a:ea typeface="Geist" charset="0"/>
                <a:cs typeface="Geist" charset="0"/>
              </a:rPr>
              <a:t> defects from Plant to Defect Type and Year level.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600" dirty="0">
              <a:latin typeface="Geist" charset="0"/>
              <a:ea typeface="Geist" charset="0"/>
              <a:cs typeface="Geist" charset="0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D9A35393-4FBD-60DA-C7A5-CE14C210A1E8}"/>
              </a:ext>
            </a:extLst>
          </p:cNvPr>
          <p:cNvSpPr txBox="1"/>
          <p:nvPr/>
        </p:nvSpPr>
        <p:spPr>
          <a:xfrm>
            <a:off x="711483" y="5261059"/>
            <a:ext cx="32221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i="1" dirty="0">
                <a:latin typeface="Geist" charset="0"/>
                <a:ea typeface="Geist" charset="0"/>
                <a:cs typeface="Geist" charset="0"/>
              </a:rPr>
              <a:t>Defects by Plant</a:t>
            </a:r>
          </a:p>
        </p:txBody>
      </p:sp>
    </p:spTree>
    <p:extLst>
      <p:ext uri="{BB962C8B-B14F-4D97-AF65-F5344CB8AC3E}">
        <p14:creationId xmlns:p14="http://schemas.microsoft.com/office/powerpoint/2010/main" val="31833105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7">
            <a:extLst>
              <a:ext uri="{FF2B5EF4-FFF2-40B4-BE49-F238E27FC236}">
                <a16:creationId xmlns:a16="http://schemas.microsoft.com/office/drawing/2014/main" id="{A5801AC0-E07C-14AF-7FEF-83D8CB83B72E}"/>
              </a:ext>
            </a:extLst>
          </p:cNvPr>
          <p:cNvSpPr/>
          <p:nvPr/>
        </p:nvSpPr>
        <p:spPr>
          <a:xfrm>
            <a:off x="11112519" y="6048137"/>
            <a:ext cx="791051" cy="193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21000"/>
              </a:lnSpc>
              <a:buNone/>
            </a:pPr>
            <a:r>
              <a:rPr lang="en-US" sz="1050" kern="100" spc="84" dirty="0">
                <a:solidFill>
                  <a:srgbClr val="625950"/>
                </a:solidFill>
                <a:latin typeface="Geist Mono" pitchFamily="34" charset="0"/>
                <a:ea typeface="Geist Mono" pitchFamily="34" charset="-122"/>
                <a:cs typeface="Geist Mono" pitchFamily="34" charset="0"/>
              </a:rPr>
              <a:t>11</a:t>
            </a:r>
            <a:endParaRPr lang="en-US" sz="105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F3D03DB-355B-0B10-97CC-2CC085A65E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6147" y="6442741"/>
            <a:ext cx="1265853" cy="415259"/>
          </a:xfrm>
          <a:prstGeom prst="rect">
            <a:avLst/>
          </a:prstGeom>
        </p:spPr>
      </p:pic>
      <p:sp>
        <p:nvSpPr>
          <p:cNvPr id="7" name="Text 0">
            <a:extLst>
              <a:ext uri="{FF2B5EF4-FFF2-40B4-BE49-F238E27FC236}">
                <a16:creationId xmlns:a16="http://schemas.microsoft.com/office/drawing/2014/main" id="{4313A868-5F15-9A26-2458-A94FDBE533E4}"/>
              </a:ext>
            </a:extLst>
          </p:cNvPr>
          <p:cNvSpPr/>
          <p:nvPr/>
        </p:nvSpPr>
        <p:spPr>
          <a:xfrm>
            <a:off x="609585" y="507204"/>
            <a:ext cx="11582110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8000"/>
              </a:lnSpc>
            </a:pPr>
            <a:r>
              <a:rPr lang="en-US" sz="1100" kern="100" spc="88" dirty="0">
                <a:solidFill>
                  <a:srgbClr val="625950"/>
                </a:solidFill>
                <a:latin typeface="Geist Mono Medium" pitchFamily="34" charset="0"/>
                <a:ea typeface="Geist Mono Medium" pitchFamily="34" charset="-122"/>
                <a:cs typeface="Geist Mono Medium" pitchFamily="34" charset="0"/>
              </a:rPr>
              <a:t>Downtime &amp; Maintenance</a:t>
            </a:r>
            <a:endParaRPr lang="en-US" sz="1100" dirty="0"/>
          </a:p>
          <a:p>
            <a:pPr marL="0" indent="0" algn="l">
              <a:lnSpc>
                <a:spcPct val="108000"/>
              </a:lnSpc>
              <a:buNone/>
            </a:pPr>
            <a:endParaRPr lang="en-US" sz="1100" dirty="0"/>
          </a:p>
        </p:txBody>
      </p:sp>
      <p:sp>
        <p:nvSpPr>
          <p:cNvPr id="9" name="Text 1">
            <a:extLst>
              <a:ext uri="{FF2B5EF4-FFF2-40B4-BE49-F238E27FC236}">
                <a16:creationId xmlns:a16="http://schemas.microsoft.com/office/drawing/2014/main" id="{65CAB1E9-B8E0-5A69-99DA-40D7E8EFD13E}"/>
              </a:ext>
            </a:extLst>
          </p:cNvPr>
          <p:cNvSpPr/>
          <p:nvPr/>
        </p:nvSpPr>
        <p:spPr>
          <a:xfrm>
            <a:off x="604723" y="813211"/>
            <a:ext cx="10972526" cy="10608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IN" sz="2600" dirty="0">
                <a:latin typeface="Geist Medium" charset="0"/>
                <a:ea typeface="Geist Medium" charset="0"/>
                <a:cs typeface="Geist Medium" charset="0"/>
              </a:rPr>
              <a:t>Downtime &amp; Maintenance analytics improves equipment performance</a:t>
            </a:r>
          </a:p>
          <a:p>
            <a:pPr marL="0" indent="0" algn="l">
              <a:lnSpc>
                <a:spcPct val="90000"/>
              </a:lnSpc>
              <a:buNone/>
            </a:pPr>
            <a:endParaRPr lang="en-US" sz="2600" dirty="0">
              <a:latin typeface="Geist Medium" charset="0"/>
              <a:ea typeface="Geist Medium" charset="0"/>
              <a:cs typeface="Geist Medium" charset="0"/>
            </a:endParaRPr>
          </a:p>
        </p:txBody>
      </p:sp>
      <p:sp>
        <p:nvSpPr>
          <p:cNvPr id="11" name="Text 2">
            <a:extLst>
              <a:ext uri="{FF2B5EF4-FFF2-40B4-BE49-F238E27FC236}">
                <a16:creationId xmlns:a16="http://schemas.microsoft.com/office/drawing/2014/main" id="{7577525F-CD59-6264-C74E-F91B78864FB4}"/>
              </a:ext>
            </a:extLst>
          </p:cNvPr>
          <p:cNvSpPr/>
          <p:nvPr/>
        </p:nvSpPr>
        <p:spPr>
          <a:xfrm>
            <a:off x="609585" y="1555537"/>
            <a:ext cx="3149521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100" spc="88" dirty="0">
                <a:solidFill>
                  <a:srgbClr val="625950"/>
                </a:solidFill>
                <a:latin typeface="Geist Mono Medium" pitchFamily="34" charset="0"/>
                <a:ea typeface="Geist Mono Medium" pitchFamily="34" charset="-122"/>
                <a:cs typeface="Geist Mono Medium" pitchFamily="34" charset="0"/>
              </a:rPr>
              <a:t>TOTAL MAINTENANCE COST</a:t>
            </a:r>
            <a:endParaRPr lang="en-US" sz="1100" dirty="0"/>
          </a:p>
        </p:txBody>
      </p:sp>
      <p:sp>
        <p:nvSpPr>
          <p:cNvPr id="13" name="Text 3">
            <a:extLst>
              <a:ext uri="{FF2B5EF4-FFF2-40B4-BE49-F238E27FC236}">
                <a16:creationId xmlns:a16="http://schemas.microsoft.com/office/drawing/2014/main" id="{1952C694-6AFC-0427-3000-41D6AE536093}"/>
              </a:ext>
            </a:extLst>
          </p:cNvPr>
          <p:cNvSpPr/>
          <p:nvPr/>
        </p:nvSpPr>
        <p:spPr>
          <a:xfrm>
            <a:off x="1597492" y="2142034"/>
            <a:ext cx="2539936" cy="609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00000"/>
              </a:lnSpc>
            </a:pPr>
            <a:endParaRPr lang="en-US" sz="3400" dirty="0"/>
          </a:p>
          <a:p>
            <a:pPr>
              <a:lnSpc>
                <a:spcPct val="100000"/>
              </a:lnSpc>
            </a:pPr>
            <a:endParaRPr lang="en-US" sz="3400" dirty="0"/>
          </a:p>
        </p:txBody>
      </p:sp>
      <p:sp>
        <p:nvSpPr>
          <p:cNvPr id="17" name="Text 5">
            <a:extLst>
              <a:ext uri="{FF2B5EF4-FFF2-40B4-BE49-F238E27FC236}">
                <a16:creationId xmlns:a16="http://schemas.microsoft.com/office/drawing/2014/main" id="{63E6A661-C2D4-BB94-63C3-69A391230525}"/>
              </a:ext>
            </a:extLst>
          </p:cNvPr>
          <p:cNvSpPr/>
          <p:nvPr/>
        </p:nvSpPr>
        <p:spPr>
          <a:xfrm>
            <a:off x="604723" y="2677053"/>
            <a:ext cx="2946426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100" spc="88" dirty="0">
                <a:solidFill>
                  <a:srgbClr val="625950"/>
                </a:solidFill>
                <a:latin typeface="Geist Mono Medium" pitchFamily="34" charset="0"/>
                <a:ea typeface="Geist Mono Medium" pitchFamily="34" charset="-122"/>
                <a:cs typeface="Geist Mono Medium" pitchFamily="34" charset="0"/>
              </a:rPr>
              <a:t>Cost per Event </a:t>
            </a:r>
            <a:endParaRPr lang="en-US" sz="1100" dirty="0"/>
          </a:p>
        </p:txBody>
      </p:sp>
      <p:sp>
        <p:nvSpPr>
          <p:cNvPr id="19" name="Text 6">
            <a:extLst>
              <a:ext uri="{FF2B5EF4-FFF2-40B4-BE49-F238E27FC236}">
                <a16:creationId xmlns:a16="http://schemas.microsoft.com/office/drawing/2014/main" id="{4FCF2506-00EB-EE18-A172-47BAEF14AFCB}"/>
              </a:ext>
            </a:extLst>
          </p:cNvPr>
          <p:cNvSpPr/>
          <p:nvPr/>
        </p:nvSpPr>
        <p:spPr>
          <a:xfrm>
            <a:off x="604723" y="3301070"/>
            <a:ext cx="3149521" cy="4463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3000"/>
              </a:lnSpc>
              <a:buNone/>
            </a:pPr>
            <a:endParaRPr lang="en-US" sz="3400" dirty="0"/>
          </a:p>
          <a:p>
            <a:pPr marL="0" indent="0" algn="l">
              <a:lnSpc>
                <a:spcPct val="83000"/>
              </a:lnSpc>
              <a:buNone/>
            </a:pPr>
            <a:endParaRPr lang="en-US" sz="3400" dirty="0"/>
          </a:p>
        </p:txBody>
      </p:sp>
      <p:sp>
        <p:nvSpPr>
          <p:cNvPr id="23" name="Text 8">
            <a:extLst>
              <a:ext uri="{FF2B5EF4-FFF2-40B4-BE49-F238E27FC236}">
                <a16:creationId xmlns:a16="http://schemas.microsoft.com/office/drawing/2014/main" id="{A217CAE8-3257-E642-283F-64E1D9868BD0}"/>
              </a:ext>
            </a:extLst>
          </p:cNvPr>
          <p:cNvSpPr/>
          <p:nvPr/>
        </p:nvSpPr>
        <p:spPr>
          <a:xfrm>
            <a:off x="559290" y="3694813"/>
            <a:ext cx="2946426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100" spc="88" dirty="0">
                <a:solidFill>
                  <a:srgbClr val="625950"/>
                </a:solidFill>
                <a:latin typeface="Geist Mono Medium" pitchFamily="34" charset="0"/>
                <a:ea typeface="Geist Mono Medium" pitchFamily="34" charset="-122"/>
                <a:cs typeface="Geist Mono Medium" pitchFamily="34" charset="0"/>
              </a:rPr>
              <a:t>Total Downtime Hours</a:t>
            </a:r>
            <a:endParaRPr lang="en-US" sz="1100" dirty="0"/>
          </a:p>
        </p:txBody>
      </p:sp>
      <p:sp>
        <p:nvSpPr>
          <p:cNvPr id="25" name="Text 9">
            <a:extLst>
              <a:ext uri="{FF2B5EF4-FFF2-40B4-BE49-F238E27FC236}">
                <a16:creationId xmlns:a16="http://schemas.microsoft.com/office/drawing/2014/main" id="{4D0D446C-D715-8703-4487-E810C12D4E07}"/>
              </a:ext>
            </a:extLst>
          </p:cNvPr>
          <p:cNvSpPr/>
          <p:nvPr/>
        </p:nvSpPr>
        <p:spPr>
          <a:xfrm>
            <a:off x="7559347" y="1439735"/>
            <a:ext cx="2209009" cy="8616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3000"/>
              </a:lnSpc>
              <a:buNone/>
            </a:pPr>
            <a:endParaRPr lang="en-US" sz="3400" dirty="0"/>
          </a:p>
        </p:txBody>
      </p:sp>
      <p:sp>
        <p:nvSpPr>
          <p:cNvPr id="29" name="Text 11">
            <a:extLst>
              <a:ext uri="{FF2B5EF4-FFF2-40B4-BE49-F238E27FC236}">
                <a16:creationId xmlns:a16="http://schemas.microsoft.com/office/drawing/2014/main" id="{3EB324A5-84FD-2932-B469-6233FD0C352F}"/>
              </a:ext>
            </a:extLst>
          </p:cNvPr>
          <p:cNvSpPr/>
          <p:nvPr/>
        </p:nvSpPr>
        <p:spPr>
          <a:xfrm>
            <a:off x="559290" y="4570854"/>
            <a:ext cx="3149521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100" spc="88" dirty="0">
                <a:solidFill>
                  <a:srgbClr val="625950"/>
                </a:solidFill>
                <a:latin typeface="Geist Mono Medium" pitchFamily="34" charset="0"/>
                <a:ea typeface="Geist Mono Medium" pitchFamily="34" charset="-122"/>
                <a:cs typeface="Geist Mono Medium" pitchFamily="34" charset="0"/>
              </a:rPr>
              <a:t>Downtime Events</a:t>
            </a:r>
            <a:endParaRPr lang="en-US" sz="1100" dirty="0"/>
          </a:p>
        </p:txBody>
      </p:sp>
      <p:sp>
        <p:nvSpPr>
          <p:cNvPr id="31" name="Text 12">
            <a:extLst>
              <a:ext uri="{FF2B5EF4-FFF2-40B4-BE49-F238E27FC236}">
                <a16:creationId xmlns:a16="http://schemas.microsoft.com/office/drawing/2014/main" id="{71DA6295-B7BA-B2EE-E92E-70F5A17A9150}"/>
              </a:ext>
            </a:extLst>
          </p:cNvPr>
          <p:cNvSpPr/>
          <p:nvPr/>
        </p:nvSpPr>
        <p:spPr>
          <a:xfrm>
            <a:off x="9042174" y="2020220"/>
            <a:ext cx="2539936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3000"/>
              </a:lnSpc>
              <a:buNone/>
            </a:pPr>
            <a:endParaRPr lang="en-US" sz="3400" dirty="0"/>
          </a:p>
        </p:txBody>
      </p:sp>
      <p:sp>
        <p:nvSpPr>
          <p:cNvPr id="37" name="Text 15">
            <a:extLst>
              <a:ext uri="{FF2B5EF4-FFF2-40B4-BE49-F238E27FC236}">
                <a16:creationId xmlns:a16="http://schemas.microsoft.com/office/drawing/2014/main" id="{B7295537-A99F-F3EC-EAAF-AA6043A16326}"/>
              </a:ext>
            </a:extLst>
          </p:cNvPr>
          <p:cNvSpPr/>
          <p:nvPr/>
        </p:nvSpPr>
        <p:spPr>
          <a:xfrm>
            <a:off x="7629632" y="4311809"/>
            <a:ext cx="3698485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endParaRPr lang="en-US" sz="1200" dirty="0"/>
          </a:p>
        </p:txBody>
      </p:sp>
      <p:sp>
        <p:nvSpPr>
          <p:cNvPr id="39" name="Text 16">
            <a:extLst>
              <a:ext uri="{FF2B5EF4-FFF2-40B4-BE49-F238E27FC236}">
                <a16:creationId xmlns:a16="http://schemas.microsoft.com/office/drawing/2014/main" id="{13CD7879-D367-A91C-9439-B57C37E5F136}"/>
              </a:ext>
            </a:extLst>
          </p:cNvPr>
          <p:cNvSpPr/>
          <p:nvPr/>
        </p:nvSpPr>
        <p:spPr>
          <a:xfrm>
            <a:off x="11210049" y="6456462"/>
            <a:ext cx="791051" cy="193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21000"/>
              </a:lnSpc>
              <a:buNone/>
            </a:pPr>
            <a:endParaRPr lang="en-US" sz="1050" kern="100" spc="84" dirty="0">
              <a:solidFill>
                <a:srgbClr val="625950"/>
              </a:solidFill>
              <a:latin typeface="Geist Mono" pitchFamily="34" charset="0"/>
              <a:ea typeface="Geist Mono" pitchFamily="34" charset="-122"/>
              <a:cs typeface="Geist Mono" pitchFamily="34" charset="0"/>
            </a:endParaRPr>
          </a:p>
          <a:p>
            <a:pPr marL="0" indent="0" algn="r">
              <a:lnSpc>
                <a:spcPct val="121000"/>
              </a:lnSpc>
              <a:buNone/>
            </a:pPr>
            <a:endParaRPr lang="en-US" sz="1050" dirty="0"/>
          </a:p>
        </p:txBody>
      </p:sp>
      <p:sp>
        <p:nvSpPr>
          <p:cNvPr id="41" name="Text 17">
            <a:extLst>
              <a:ext uri="{FF2B5EF4-FFF2-40B4-BE49-F238E27FC236}">
                <a16:creationId xmlns:a16="http://schemas.microsoft.com/office/drawing/2014/main" id="{E2747DB5-A6CB-8D54-958C-7F311BD3235F}"/>
              </a:ext>
            </a:extLst>
          </p:cNvPr>
          <p:cNvSpPr/>
          <p:nvPr/>
        </p:nvSpPr>
        <p:spPr>
          <a:xfrm>
            <a:off x="11317447" y="6533381"/>
            <a:ext cx="791051" cy="193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21000"/>
              </a:lnSpc>
              <a:buNone/>
            </a:pPr>
            <a:endParaRPr lang="en-US" sz="1050" dirty="0"/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AF5F64F4-3CC3-2744-E206-E0D840E421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66786" y="5567047"/>
            <a:ext cx="1699407" cy="609653"/>
          </a:xfrm>
          <a:prstGeom prst="rect">
            <a:avLst/>
          </a:prstGeom>
        </p:spPr>
      </p:pic>
      <p:sp>
        <p:nvSpPr>
          <p:cNvPr id="45" name="Shape 14">
            <a:extLst>
              <a:ext uri="{FF2B5EF4-FFF2-40B4-BE49-F238E27FC236}">
                <a16:creationId xmlns:a16="http://schemas.microsoft.com/office/drawing/2014/main" id="{A19E299D-BD9B-05F4-C2D4-E85B6A6358A2}"/>
              </a:ext>
            </a:extLst>
          </p:cNvPr>
          <p:cNvSpPr/>
          <p:nvPr/>
        </p:nvSpPr>
        <p:spPr>
          <a:xfrm>
            <a:off x="491455" y="5302463"/>
            <a:ext cx="4708818" cy="1266571"/>
          </a:xfrm>
          <a:prstGeom prst="roundRect">
            <a:avLst>
              <a:gd name="adj" fmla="val 2902"/>
            </a:avLst>
          </a:prstGeom>
          <a:solidFill>
            <a:srgbClr val="EFE4D4"/>
          </a:solidFill>
          <a:ln/>
        </p:spPr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9EDBFD5-C284-26EE-C2DA-7631C31CB425}"/>
              </a:ext>
            </a:extLst>
          </p:cNvPr>
          <p:cNvSpPr txBox="1"/>
          <p:nvPr/>
        </p:nvSpPr>
        <p:spPr>
          <a:xfrm>
            <a:off x="609585" y="6106302"/>
            <a:ext cx="4354301" cy="336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00" dirty="0">
                <a:solidFill>
                  <a:srgbClr val="3A332D"/>
                </a:solidFill>
                <a:latin typeface="Geist" pitchFamily="34" charset="0"/>
                <a:ea typeface="Geist" pitchFamily="34" charset="-122"/>
                <a:cs typeface="Geist" pitchFamily="34" charset="0"/>
              </a:rPr>
              <a:t>Drilldown: Plant → Year</a:t>
            </a:r>
            <a:endParaRPr lang="en-US" sz="1400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2E75F20-BB64-6519-4FAE-AF8825E3E775}"/>
              </a:ext>
            </a:extLst>
          </p:cNvPr>
          <p:cNvSpPr txBox="1"/>
          <p:nvPr/>
        </p:nvSpPr>
        <p:spPr>
          <a:xfrm>
            <a:off x="559290" y="5566635"/>
            <a:ext cx="6097554" cy="336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00" dirty="0">
                <a:solidFill>
                  <a:srgbClr val="3A332D"/>
                </a:solidFill>
                <a:latin typeface="Geist" pitchFamily="34" charset="0"/>
                <a:ea typeface="Geist" pitchFamily="34" charset="-122"/>
                <a:cs typeface="Geist" pitchFamily="34" charset="0"/>
              </a:rPr>
              <a:t>Drilldown: Plant → Machine Type → Year </a:t>
            </a:r>
            <a:endParaRPr lang="en-US" sz="1400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D2A6C17-782C-C423-C3AD-B139E1F83C8D}"/>
              </a:ext>
            </a:extLst>
          </p:cNvPr>
          <p:cNvSpPr txBox="1"/>
          <p:nvPr/>
        </p:nvSpPr>
        <p:spPr>
          <a:xfrm>
            <a:off x="456939" y="5339509"/>
            <a:ext cx="346191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i="1" dirty="0">
                <a:latin typeface="Geist" charset="0"/>
                <a:ea typeface="Geist" charset="0"/>
                <a:cs typeface="Geist" charset="0"/>
              </a:rPr>
              <a:t>Total Maintenance Cost by Plant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31D30F8-2E0E-11C8-0BD3-C2CA961C5E7A}"/>
              </a:ext>
            </a:extLst>
          </p:cNvPr>
          <p:cNvSpPr txBox="1"/>
          <p:nvPr/>
        </p:nvSpPr>
        <p:spPr>
          <a:xfrm>
            <a:off x="456939" y="5910464"/>
            <a:ext cx="338727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i="1" dirty="0">
                <a:latin typeface="Geist" charset="0"/>
                <a:ea typeface="Geist" charset="0"/>
                <a:cs typeface="Geist" charset="0"/>
              </a:rPr>
              <a:t>Total Downtime(Hrs) by Plant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C21E1C2-F552-CD17-A397-00A6323BC365}"/>
              </a:ext>
            </a:extLst>
          </p:cNvPr>
          <p:cNvSpPr txBox="1"/>
          <p:nvPr/>
        </p:nvSpPr>
        <p:spPr>
          <a:xfrm>
            <a:off x="456939" y="2935806"/>
            <a:ext cx="1625859" cy="535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3400" kern="100" spc="-68" dirty="0">
                <a:solidFill>
                  <a:srgbClr val="FF0000"/>
                </a:solidFill>
                <a:latin typeface="Geist Medium" pitchFamily="34" charset="0"/>
                <a:ea typeface="Geist Medium" pitchFamily="34" charset="-122"/>
                <a:cs typeface="Geist Medium" pitchFamily="34" charset="0"/>
              </a:rPr>
              <a:t>6.52 K</a:t>
            </a:r>
            <a:endParaRPr lang="en-US" sz="3400" dirty="0">
              <a:solidFill>
                <a:srgbClr val="FF0000"/>
              </a:solidFill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6FC941A-B2B7-ADF4-5050-8BE5B4910C1C}"/>
              </a:ext>
            </a:extLst>
          </p:cNvPr>
          <p:cNvSpPr txBox="1"/>
          <p:nvPr/>
        </p:nvSpPr>
        <p:spPr>
          <a:xfrm>
            <a:off x="456939" y="3950681"/>
            <a:ext cx="2519526" cy="535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3400" kern="100" spc="-68" dirty="0">
                <a:solidFill>
                  <a:schemeClr val="accent2"/>
                </a:solidFill>
                <a:latin typeface="Geist Medium" pitchFamily="34" charset="0"/>
                <a:ea typeface="Geist Medium" pitchFamily="34" charset="-122"/>
                <a:cs typeface="Geist Medium" pitchFamily="34" charset="0"/>
              </a:rPr>
              <a:t>4,118 </a:t>
            </a:r>
            <a:r>
              <a:rPr lang="en-US" sz="3400" kern="100" spc="-68" dirty="0" err="1">
                <a:solidFill>
                  <a:schemeClr val="accent2"/>
                </a:solidFill>
                <a:latin typeface="Geist Medium" pitchFamily="34" charset="0"/>
                <a:ea typeface="Geist Medium" pitchFamily="34" charset="-122"/>
                <a:cs typeface="Geist Medium" pitchFamily="34" charset="0"/>
              </a:rPr>
              <a:t>Hrs</a:t>
            </a:r>
            <a:endParaRPr lang="en-US" sz="3400" dirty="0">
              <a:solidFill>
                <a:schemeClr val="accent2"/>
              </a:solidFill>
            </a:endParaRPr>
          </a:p>
        </p:txBody>
      </p:sp>
      <p:sp>
        <p:nvSpPr>
          <p:cNvPr id="65" name="Shape 7">
            <a:extLst>
              <a:ext uri="{FF2B5EF4-FFF2-40B4-BE49-F238E27FC236}">
                <a16:creationId xmlns:a16="http://schemas.microsoft.com/office/drawing/2014/main" id="{6C846C91-F348-18E5-4BFC-6990ED3B997D}"/>
              </a:ext>
            </a:extLst>
          </p:cNvPr>
          <p:cNvSpPr/>
          <p:nvPr/>
        </p:nvSpPr>
        <p:spPr>
          <a:xfrm>
            <a:off x="456939" y="2517255"/>
            <a:ext cx="5492315" cy="9624"/>
          </a:xfrm>
          <a:prstGeom prst="roundRect">
            <a:avLst>
              <a:gd name="adj" fmla="val 50000"/>
            </a:avLst>
          </a:prstGeom>
          <a:solidFill>
            <a:srgbClr val="D8CBBA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51B7C2F2-FA98-119F-749F-7B25F346014C}"/>
              </a:ext>
            </a:extLst>
          </p:cNvPr>
          <p:cNvSpPr txBox="1"/>
          <p:nvPr/>
        </p:nvSpPr>
        <p:spPr>
          <a:xfrm>
            <a:off x="456939" y="1881423"/>
            <a:ext cx="1912743" cy="535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3400" kern="100" spc="-68" dirty="0">
                <a:solidFill>
                  <a:srgbClr val="FF0000"/>
                </a:solidFill>
                <a:latin typeface="Geist Medium" pitchFamily="34" charset="0"/>
                <a:ea typeface="Geist Medium" pitchFamily="34" charset="-122"/>
                <a:cs typeface="Geist Medium" pitchFamily="34" charset="0"/>
              </a:rPr>
              <a:t>21.12 M</a:t>
            </a:r>
            <a:endParaRPr lang="en-US" sz="3400" dirty="0">
              <a:solidFill>
                <a:srgbClr val="FF0000"/>
              </a:solidFill>
            </a:endParaRPr>
          </a:p>
        </p:txBody>
      </p:sp>
      <p:sp>
        <p:nvSpPr>
          <p:cNvPr id="69" name="Shape 7">
            <a:extLst>
              <a:ext uri="{FF2B5EF4-FFF2-40B4-BE49-F238E27FC236}">
                <a16:creationId xmlns:a16="http://schemas.microsoft.com/office/drawing/2014/main" id="{262AFBDC-0940-0F46-678F-EBC0E420ED17}"/>
              </a:ext>
            </a:extLst>
          </p:cNvPr>
          <p:cNvSpPr/>
          <p:nvPr/>
        </p:nvSpPr>
        <p:spPr>
          <a:xfrm>
            <a:off x="456939" y="3510209"/>
            <a:ext cx="5492315" cy="9624"/>
          </a:xfrm>
          <a:prstGeom prst="roundRect">
            <a:avLst>
              <a:gd name="adj" fmla="val 50000"/>
            </a:avLst>
          </a:prstGeom>
          <a:solidFill>
            <a:srgbClr val="D8CBBA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71" name="Shape 7">
            <a:extLst>
              <a:ext uri="{FF2B5EF4-FFF2-40B4-BE49-F238E27FC236}">
                <a16:creationId xmlns:a16="http://schemas.microsoft.com/office/drawing/2014/main" id="{D0501F9A-9CD2-D747-5C0F-7D0EFC86DC63}"/>
              </a:ext>
            </a:extLst>
          </p:cNvPr>
          <p:cNvSpPr/>
          <p:nvPr/>
        </p:nvSpPr>
        <p:spPr>
          <a:xfrm>
            <a:off x="456939" y="4526917"/>
            <a:ext cx="5492315" cy="9624"/>
          </a:xfrm>
          <a:prstGeom prst="roundRect">
            <a:avLst>
              <a:gd name="adj" fmla="val 50000"/>
            </a:avLst>
          </a:prstGeom>
          <a:solidFill>
            <a:srgbClr val="D8CBBA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73" name="Shape 14">
            <a:extLst>
              <a:ext uri="{FF2B5EF4-FFF2-40B4-BE49-F238E27FC236}">
                <a16:creationId xmlns:a16="http://schemas.microsoft.com/office/drawing/2014/main" id="{3CFABAB0-D62F-5209-B06C-41665811F863}"/>
              </a:ext>
            </a:extLst>
          </p:cNvPr>
          <p:cNvSpPr/>
          <p:nvPr/>
        </p:nvSpPr>
        <p:spPr>
          <a:xfrm>
            <a:off x="5526594" y="1585624"/>
            <a:ext cx="6050655" cy="4983410"/>
          </a:xfrm>
          <a:prstGeom prst="roundRect">
            <a:avLst>
              <a:gd name="adj" fmla="val 2902"/>
            </a:avLst>
          </a:prstGeom>
          <a:solidFill>
            <a:srgbClr val="EFE4D4"/>
          </a:solidFill>
          <a:ln/>
        </p:spPr>
        <p:txBody>
          <a:bodyPr/>
          <a:lstStyle/>
          <a:p>
            <a:endParaRPr lang="en-IN" dirty="0"/>
          </a:p>
        </p:txBody>
      </p:sp>
      <p:pic>
        <p:nvPicPr>
          <p:cNvPr id="74" name="Picture 73">
            <a:extLst>
              <a:ext uri="{FF2B5EF4-FFF2-40B4-BE49-F238E27FC236}">
                <a16:creationId xmlns:a16="http://schemas.microsoft.com/office/drawing/2014/main" id="{C83A4C7C-3769-C04D-E9A5-BA8079663E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9616" y="1732831"/>
            <a:ext cx="5731510" cy="3248660"/>
          </a:xfrm>
          <a:prstGeom prst="rect">
            <a:avLst/>
          </a:prstGeom>
        </p:spPr>
      </p:pic>
      <p:sp>
        <p:nvSpPr>
          <p:cNvPr id="76" name="TextBox 75">
            <a:extLst>
              <a:ext uri="{FF2B5EF4-FFF2-40B4-BE49-F238E27FC236}">
                <a16:creationId xmlns:a16="http://schemas.microsoft.com/office/drawing/2014/main" id="{27A359AC-1DBE-5B10-1266-9BBD2E20E1D9}"/>
              </a:ext>
            </a:extLst>
          </p:cNvPr>
          <p:cNvSpPr txBox="1"/>
          <p:nvPr/>
        </p:nvSpPr>
        <p:spPr>
          <a:xfrm>
            <a:off x="472500" y="4720538"/>
            <a:ext cx="2519526" cy="535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3400" kern="100" spc="-68" dirty="0">
                <a:solidFill>
                  <a:schemeClr val="accent2"/>
                </a:solidFill>
                <a:latin typeface="Geist Medium" pitchFamily="34" charset="0"/>
                <a:ea typeface="Geist Medium" pitchFamily="34" charset="-122"/>
                <a:cs typeface="Geist Medium" pitchFamily="34" charset="0"/>
              </a:rPr>
              <a:t>3k</a:t>
            </a:r>
            <a:endParaRPr lang="en-US" sz="3400" dirty="0">
              <a:solidFill>
                <a:schemeClr val="accent2"/>
              </a:solidFill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29CC6B77-47CB-64CA-49A9-D60594E77E26}"/>
              </a:ext>
            </a:extLst>
          </p:cNvPr>
          <p:cNvSpPr txBox="1"/>
          <p:nvPr/>
        </p:nvSpPr>
        <p:spPr>
          <a:xfrm>
            <a:off x="5686345" y="5138043"/>
            <a:ext cx="597503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Geist" charset="0"/>
                <a:ea typeface="Geist" charset="0"/>
                <a:cs typeface="Geist" charset="0"/>
              </a:rPr>
              <a:t>This dashboard </a:t>
            </a:r>
            <a:r>
              <a:rPr lang="en-IN" sz="1600" dirty="0" err="1">
                <a:latin typeface="Geist" charset="0"/>
                <a:ea typeface="Geist" charset="0"/>
                <a:cs typeface="Geist" charset="0"/>
              </a:rPr>
              <a:t>analyzes</a:t>
            </a:r>
            <a:r>
              <a:rPr lang="en-IN" sz="1600" dirty="0">
                <a:latin typeface="Geist" charset="0"/>
                <a:ea typeface="Geist" charset="0"/>
                <a:cs typeface="Geist" charset="0"/>
              </a:rPr>
              <a:t> maintenance costs, downtime hours, downtime events, and maintenance activities.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Geist" charset="0"/>
                <a:ea typeface="Geist" charset="0"/>
                <a:cs typeface="Geist" charset="0"/>
              </a:rPr>
              <a:t> It helps identify operational disruptions, optimize maintenance planning, and improve equipment reliability.</a:t>
            </a:r>
          </a:p>
        </p:txBody>
      </p:sp>
    </p:spTree>
    <p:extLst>
      <p:ext uri="{BB962C8B-B14F-4D97-AF65-F5344CB8AC3E}">
        <p14:creationId xmlns:p14="http://schemas.microsoft.com/office/powerpoint/2010/main" val="7438524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17">
            <a:extLst>
              <a:ext uri="{FF2B5EF4-FFF2-40B4-BE49-F238E27FC236}">
                <a16:creationId xmlns:a16="http://schemas.microsoft.com/office/drawing/2014/main" id="{A843B776-CD45-DA15-C5E8-3A196F694B98}"/>
              </a:ext>
            </a:extLst>
          </p:cNvPr>
          <p:cNvSpPr/>
          <p:nvPr/>
        </p:nvSpPr>
        <p:spPr>
          <a:xfrm>
            <a:off x="11112519" y="6048137"/>
            <a:ext cx="791051" cy="193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21000"/>
              </a:lnSpc>
              <a:buNone/>
            </a:pPr>
            <a:r>
              <a:rPr lang="en-US" sz="1050" kern="100" spc="84" dirty="0">
                <a:solidFill>
                  <a:srgbClr val="625950"/>
                </a:solidFill>
                <a:latin typeface="Geist Mono" pitchFamily="34" charset="0"/>
                <a:ea typeface="Geist Mono" pitchFamily="34" charset="-122"/>
                <a:cs typeface="Geist Mono" pitchFamily="34" charset="0"/>
              </a:rPr>
              <a:t>12</a:t>
            </a:r>
            <a:endParaRPr lang="en-US" sz="1050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71C23DD6-59EF-DA67-E345-EEA8E0EF46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6147" y="6442741"/>
            <a:ext cx="1265853" cy="415259"/>
          </a:xfrm>
          <a:prstGeom prst="rect">
            <a:avLst/>
          </a:prstGeom>
        </p:spPr>
      </p:pic>
      <p:sp>
        <p:nvSpPr>
          <p:cNvPr id="32" name="Text 0">
            <a:extLst>
              <a:ext uri="{FF2B5EF4-FFF2-40B4-BE49-F238E27FC236}">
                <a16:creationId xmlns:a16="http://schemas.microsoft.com/office/drawing/2014/main" id="{743E0011-B565-0BEF-A6F0-3C6596DE2244}"/>
              </a:ext>
            </a:extLst>
          </p:cNvPr>
          <p:cNvSpPr/>
          <p:nvPr/>
        </p:nvSpPr>
        <p:spPr>
          <a:xfrm>
            <a:off x="609585" y="507204"/>
            <a:ext cx="11582110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8000"/>
              </a:lnSpc>
            </a:pPr>
            <a:r>
              <a:rPr lang="en-US" sz="1100" kern="100" spc="88" dirty="0">
                <a:solidFill>
                  <a:srgbClr val="625950"/>
                </a:solidFill>
                <a:latin typeface="Geist Mono Medium" pitchFamily="34" charset="0"/>
                <a:ea typeface="Geist Mono Medium" pitchFamily="34" charset="-122"/>
                <a:cs typeface="Geist Mono Medium" pitchFamily="34" charset="0"/>
              </a:rPr>
              <a:t>Machine</a:t>
            </a:r>
            <a:endParaRPr lang="en-US" sz="1100" dirty="0"/>
          </a:p>
          <a:p>
            <a:pPr marL="0" indent="0" algn="l">
              <a:lnSpc>
                <a:spcPct val="108000"/>
              </a:lnSpc>
              <a:buNone/>
            </a:pPr>
            <a:endParaRPr lang="en-US" sz="1100" dirty="0"/>
          </a:p>
        </p:txBody>
      </p:sp>
      <p:sp>
        <p:nvSpPr>
          <p:cNvPr id="34" name="Text 1">
            <a:extLst>
              <a:ext uri="{FF2B5EF4-FFF2-40B4-BE49-F238E27FC236}">
                <a16:creationId xmlns:a16="http://schemas.microsoft.com/office/drawing/2014/main" id="{4E954E39-9737-8E9C-EB60-A2DCF279AF60}"/>
              </a:ext>
            </a:extLst>
          </p:cNvPr>
          <p:cNvSpPr/>
          <p:nvPr/>
        </p:nvSpPr>
        <p:spPr>
          <a:xfrm>
            <a:off x="604723" y="813211"/>
            <a:ext cx="10972526" cy="10608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IN" sz="2800" dirty="0">
                <a:latin typeface="Geist Medium" charset="0"/>
                <a:ea typeface="Geist Medium" charset="0"/>
                <a:cs typeface="Geist Medium" charset="0"/>
              </a:rPr>
              <a:t>Machine analysis identifies performance leaders and bottlenecks</a:t>
            </a:r>
          </a:p>
          <a:p>
            <a:pPr marL="0" indent="0" algn="l">
              <a:lnSpc>
                <a:spcPct val="90000"/>
              </a:lnSpc>
              <a:buNone/>
            </a:pPr>
            <a:endParaRPr lang="en-US" sz="4800" dirty="0">
              <a:latin typeface="Geist Medium" charset="0"/>
              <a:ea typeface="Geist Medium" charset="0"/>
              <a:cs typeface="Geist Medium" charset="0"/>
            </a:endParaRPr>
          </a:p>
        </p:txBody>
      </p:sp>
      <p:sp>
        <p:nvSpPr>
          <p:cNvPr id="36" name="Text 2">
            <a:extLst>
              <a:ext uri="{FF2B5EF4-FFF2-40B4-BE49-F238E27FC236}">
                <a16:creationId xmlns:a16="http://schemas.microsoft.com/office/drawing/2014/main" id="{8A662C51-D54D-7FF9-3B5C-85FF59AD9D70}"/>
              </a:ext>
            </a:extLst>
          </p:cNvPr>
          <p:cNvSpPr/>
          <p:nvPr/>
        </p:nvSpPr>
        <p:spPr>
          <a:xfrm>
            <a:off x="609585" y="3706171"/>
            <a:ext cx="3149521" cy="321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100" spc="88" dirty="0">
                <a:solidFill>
                  <a:srgbClr val="625950"/>
                </a:solidFill>
                <a:latin typeface="Geist Mono Medium" pitchFamily="34" charset="0"/>
                <a:ea typeface="Geist Mono Medium" pitchFamily="34" charset="-122"/>
                <a:cs typeface="Geist Mono Medium" pitchFamily="34" charset="0"/>
              </a:rPr>
              <a:t>TOTAL MAINTENANCE COST</a:t>
            </a:r>
            <a:endParaRPr lang="en-US" sz="1100" dirty="0"/>
          </a:p>
        </p:txBody>
      </p:sp>
      <p:sp>
        <p:nvSpPr>
          <p:cNvPr id="38" name="Text 3">
            <a:extLst>
              <a:ext uri="{FF2B5EF4-FFF2-40B4-BE49-F238E27FC236}">
                <a16:creationId xmlns:a16="http://schemas.microsoft.com/office/drawing/2014/main" id="{4FF78E1E-3302-F6D2-735C-A0A874AC8AD5}"/>
              </a:ext>
            </a:extLst>
          </p:cNvPr>
          <p:cNvSpPr/>
          <p:nvPr/>
        </p:nvSpPr>
        <p:spPr>
          <a:xfrm>
            <a:off x="1597492" y="2142034"/>
            <a:ext cx="2539936" cy="609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00000"/>
              </a:lnSpc>
            </a:pPr>
            <a:endParaRPr lang="en-US" sz="3400" dirty="0"/>
          </a:p>
          <a:p>
            <a:pPr>
              <a:lnSpc>
                <a:spcPct val="100000"/>
              </a:lnSpc>
            </a:pPr>
            <a:endParaRPr lang="en-US" sz="3400" dirty="0"/>
          </a:p>
        </p:txBody>
      </p:sp>
      <p:sp>
        <p:nvSpPr>
          <p:cNvPr id="40" name="Text 5">
            <a:extLst>
              <a:ext uri="{FF2B5EF4-FFF2-40B4-BE49-F238E27FC236}">
                <a16:creationId xmlns:a16="http://schemas.microsoft.com/office/drawing/2014/main" id="{E3AAAB7A-C1B7-6F39-58E8-CF65D7A9CE04}"/>
              </a:ext>
            </a:extLst>
          </p:cNvPr>
          <p:cNvSpPr/>
          <p:nvPr/>
        </p:nvSpPr>
        <p:spPr>
          <a:xfrm>
            <a:off x="604723" y="2677053"/>
            <a:ext cx="2946426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100" spc="88" dirty="0">
                <a:solidFill>
                  <a:srgbClr val="625950"/>
                </a:solidFill>
                <a:latin typeface="Geist Mono Medium" pitchFamily="34" charset="0"/>
                <a:ea typeface="Geist Mono Medium" pitchFamily="34" charset="-122"/>
                <a:cs typeface="Geist Mono Medium" pitchFamily="34" charset="0"/>
              </a:rPr>
              <a:t>Worst Machine</a:t>
            </a:r>
            <a:endParaRPr lang="en-US" sz="1100" dirty="0"/>
          </a:p>
        </p:txBody>
      </p:sp>
      <p:sp>
        <p:nvSpPr>
          <p:cNvPr id="42" name="Text 6">
            <a:extLst>
              <a:ext uri="{FF2B5EF4-FFF2-40B4-BE49-F238E27FC236}">
                <a16:creationId xmlns:a16="http://schemas.microsoft.com/office/drawing/2014/main" id="{D054917A-4CEB-F706-87CA-40D9F436F575}"/>
              </a:ext>
            </a:extLst>
          </p:cNvPr>
          <p:cNvSpPr/>
          <p:nvPr/>
        </p:nvSpPr>
        <p:spPr>
          <a:xfrm>
            <a:off x="604723" y="3301070"/>
            <a:ext cx="3149521" cy="4463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3000"/>
              </a:lnSpc>
              <a:buNone/>
            </a:pPr>
            <a:endParaRPr lang="en-US" sz="3400" dirty="0"/>
          </a:p>
          <a:p>
            <a:pPr marL="0" indent="0" algn="l">
              <a:lnSpc>
                <a:spcPct val="83000"/>
              </a:lnSpc>
              <a:buNone/>
            </a:pPr>
            <a:endParaRPr lang="en-US" sz="3400" dirty="0"/>
          </a:p>
        </p:txBody>
      </p:sp>
      <p:sp>
        <p:nvSpPr>
          <p:cNvPr id="44" name="Text 8">
            <a:extLst>
              <a:ext uri="{FF2B5EF4-FFF2-40B4-BE49-F238E27FC236}">
                <a16:creationId xmlns:a16="http://schemas.microsoft.com/office/drawing/2014/main" id="{29BB4B5C-D872-59FF-32A9-29163483DAEE}"/>
              </a:ext>
            </a:extLst>
          </p:cNvPr>
          <p:cNvSpPr/>
          <p:nvPr/>
        </p:nvSpPr>
        <p:spPr>
          <a:xfrm>
            <a:off x="559290" y="3694813"/>
            <a:ext cx="2946426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endParaRPr lang="en-US" sz="1100" dirty="0"/>
          </a:p>
        </p:txBody>
      </p:sp>
      <p:sp>
        <p:nvSpPr>
          <p:cNvPr id="46" name="Text 9">
            <a:extLst>
              <a:ext uri="{FF2B5EF4-FFF2-40B4-BE49-F238E27FC236}">
                <a16:creationId xmlns:a16="http://schemas.microsoft.com/office/drawing/2014/main" id="{05A68D23-D519-D50C-BD2F-FC35E890304A}"/>
              </a:ext>
            </a:extLst>
          </p:cNvPr>
          <p:cNvSpPr/>
          <p:nvPr/>
        </p:nvSpPr>
        <p:spPr>
          <a:xfrm>
            <a:off x="7559347" y="1439735"/>
            <a:ext cx="2209009" cy="8616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3000"/>
              </a:lnSpc>
              <a:buNone/>
            </a:pPr>
            <a:endParaRPr lang="en-US" sz="3400" dirty="0"/>
          </a:p>
        </p:txBody>
      </p:sp>
      <p:sp>
        <p:nvSpPr>
          <p:cNvPr id="48" name="Text 11">
            <a:extLst>
              <a:ext uri="{FF2B5EF4-FFF2-40B4-BE49-F238E27FC236}">
                <a16:creationId xmlns:a16="http://schemas.microsoft.com/office/drawing/2014/main" id="{CF66E045-FC09-F518-1CC4-7EAE6BDA8E5B}"/>
              </a:ext>
            </a:extLst>
          </p:cNvPr>
          <p:cNvSpPr/>
          <p:nvPr/>
        </p:nvSpPr>
        <p:spPr>
          <a:xfrm>
            <a:off x="559290" y="4570854"/>
            <a:ext cx="3149521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endParaRPr lang="en-US" sz="1100" dirty="0"/>
          </a:p>
        </p:txBody>
      </p:sp>
      <p:sp>
        <p:nvSpPr>
          <p:cNvPr id="50" name="Text 12">
            <a:extLst>
              <a:ext uri="{FF2B5EF4-FFF2-40B4-BE49-F238E27FC236}">
                <a16:creationId xmlns:a16="http://schemas.microsoft.com/office/drawing/2014/main" id="{1047D611-1FB4-F9D9-3493-1DACA99756D3}"/>
              </a:ext>
            </a:extLst>
          </p:cNvPr>
          <p:cNvSpPr/>
          <p:nvPr/>
        </p:nvSpPr>
        <p:spPr>
          <a:xfrm>
            <a:off x="9042174" y="2020220"/>
            <a:ext cx="2539936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3000"/>
              </a:lnSpc>
              <a:buNone/>
            </a:pPr>
            <a:endParaRPr lang="en-US" sz="3400" dirty="0"/>
          </a:p>
        </p:txBody>
      </p:sp>
      <p:sp>
        <p:nvSpPr>
          <p:cNvPr id="52" name="Text 15">
            <a:extLst>
              <a:ext uri="{FF2B5EF4-FFF2-40B4-BE49-F238E27FC236}">
                <a16:creationId xmlns:a16="http://schemas.microsoft.com/office/drawing/2014/main" id="{C187014C-696D-4073-8DBD-1BF2F7922FA9}"/>
              </a:ext>
            </a:extLst>
          </p:cNvPr>
          <p:cNvSpPr/>
          <p:nvPr/>
        </p:nvSpPr>
        <p:spPr>
          <a:xfrm>
            <a:off x="7629632" y="4311809"/>
            <a:ext cx="3698485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endParaRPr lang="en-US" sz="1200" dirty="0"/>
          </a:p>
        </p:txBody>
      </p:sp>
      <p:sp>
        <p:nvSpPr>
          <p:cNvPr id="54" name="Text 16">
            <a:extLst>
              <a:ext uri="{FF2B5EF4-FFF2-40B4-BE49-F238E27FC236}">
                <a16:creationId xmlns:a16="http://schemas.microsoft.com/office/drawing/2014/main" id="{72298917-F144-1AC4-9AAD-90468F2DFB73}"/>
              </a:ext>
            </a:extLst>
          </p:cNvPr>
          <p:cNvSpPr/>
          <p:nvPr/>
        </p:nvSpPr>
        <p:spPr>
          <a:xfrm>
            <a:off x="11210049" y="6456462"/>
            <a:ext cx="791051" cy="193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21000"/>
              </a:lnSpc>
              <a:buNone/>
            </a:pPr>
            <a:endParaRPr lang="en-US" sz="1050" kern="100" spc="84" dirty="0">
              <a:solidFill>
                <a:srgbClr val="625950"/>
              </a:solidFill>
              <a:latin typeface="Geist Mono" pitchFamily="34" charset="0"/>
              <a:ea typeface="Geist Mono" pitchFamily="34" charset="-122"/>
              <a:cs typeface="Geist Mono" pitchFamily="34" charset="0"/>
            </a:endParaRPr>
          </a:p>
          <a:p>
            <a:pPr marL="0" indent="0" algn="r">
              <a:lnSpc>
                <a:spcPct val="121000"/>
              </a:lnSpc>
              <a:buNone/>
            </a:pPr>
            <a:endParaRPr lang="en-US" sz="1050" dirty="0"/>
          </a:p>
        </p:txBody>
      </p:sp>
      <p:sp>
        <p:nvSpPr>
          <p:cNvPr id="56" name="Text 17">
            <a:extLst>
              <a:ext uri="{FF2B5EF4-FFF2-40B4-BE49-F238E27FC236}">
                <a16:creationId xmlns:a16="http://schemas.microsoft.com/office/drawing/2014/main" id="{93ADC3A7-84AF-C994-2A91-90DABBDA8E02}"/>
              </a:ext>
            </a:extLst>
          </p:cNvPr>
          <p:cNvSpPr/>
          <p:nvPr/>
        </p:nvSpPr>
        <p:spPr>
          <a:xfrm>
            <a:off x="11317447" y="6533381"/>
            <a:ext cx="791051" cy="193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21000"/>
              </a:lnSpc>
              <a:buNone/>
            </a:pPr>
            <a:endParaRPr lang="en-US" sz="1050" dirty="0"/>
          </a:p>
        </p:txBody>
      </p:sp>
      <p:pic>
        <p:nvPicPr>
          <p:cNvPr id="58" name="Picture 57">
            <a:extLst>
              <a:ext uri="{FF2B5EF4-FFF2-40B4-BE49-F238E27FC236}">
                <a16:creationId xmlns:a16="http://schemas.microsoft.com/office/drawing/2014/main" id="{26F5FA62-4B67-954A-D557-4E6047C4FA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66786" y="5567047"/>
            <a:ext cx="1699407" cy="609653"/>
          </a:xfrm>
          <a:prstGeom prst="rect">
            <a:avLst/>
          </a:prstGeom>
        </p:spPr>
      </p:pic>
      <p:sp>
        <p:nvSpPr>
          <p:cNvPr id="70" name="TextBox 69">
            <a:extLst>
              <a:ext uri="{FF2B5EF4-FFF2-40B4-BE49-F238E27FC236}">
                <a16:creationId xmlns:a16="http://schemas.microsoft.com/office/drawing/2014/main" id="{A53CAC72-89FC-6182-64D5-FA5FCBB6F891}"/>
              </a:ext>
            </a:extLst>
          </p:cNvPr>
          <p:cNvSpPr txBox="1"/>
          <p:nvPr/>
        </p:nvSpPr>
        <p:spPr>
          <a:xfrm>
            <a:off x="485626" y="2908125"/>
            <a:ext cx="3251872" cy="535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3400" kern="100" spc="-68" dirty="0">
                <a:solidFill>
                  <a:srgbClr val="FF0000"/>
                </a:solidFill>
                <a:latin typeface="Geist Medium" pitchFamily="34" charset="0"/>
                <a:ea typeface="Geist Medium" pitchFamily="34" charset="-122"/>
                <a:cs typeface="Geist Medium" pitchFamily="34" charset="0"/>
              </a:rPr>
              <a:t>CNC Machine</a:t>
            </a:r>
            <a:endParaRPr lang="en-US" sz="3400" dirty="0">
              <a:solidFill>
                <a:srgbClr val="FF0000"/>
              </a:solidFill>
            </a:endParaRPr>
          </a:p>
        </p:txBody>
      </p:sp>
      <p:sp>
        <p:nvSpPr>
          <p:cNvPr id="74" name="Shape 7">
            <a:extLst>
              <a:ext uri="{FF2B5EF4-FFF2-40B4-BE49-F238E27FC236}">
                <a16:creationId xmlns:a16="http://schemas.microsoft.com/office/drawing/2014/main" id="{5848033C-62F5-4404-9E50-BAEBD90DF5AE}"/>
              </a:ext>
            </a:extLst>
          </p:cNvPr>
          <p:cNvSpPr/>
          <p:nvPr/>
        </p:nvSpPr>
        <p:spPr>
          <a:xfrm>
            <a:off x="456939" y="2517255"/>
            <a:ext cx="5492315" cy="9624"/>
          </a:xfrm>
          <a:prstGeom prst="roundRect">
            <a:avLst>
              <a:gd name="adj" fmla="val 50000"/>
            </a:avLst>
          </a:prstGeom>
          <a:solidFill>
            <a:srgbClr val="D8CBBA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644A5CDC-C09D-594D-24CE-C0E724602415}"/>
              </a:ext>
            </a:extLst>
          </p:cNvPr>
          <p:cNvSpPr txBox="1"/>
          <p:nvPr/>
        </p:nvSpPr>
        <p:spPr>
          <a:xfrm>
            <a:off x="491455" y="3896702"/>
            <a:ext cx="1912743" cy="9495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3400" kern="100" spc="-68" dirty="0">
                <a:solidFill>
                  <a:srgbClr val="FF0000"/>
                </a:solidFill>
                <a:latin typeface="Geist Medium" pitchFamily="34" charset="0"/>
                <a:ea typeface="Geist Medium" pitchFamily="34" charset="-122"/>
                <a:cs typeface="Geist Medium" pitchFamily="34" charset="0"/>
              </a:rPr>
              <a:t>21.12 M</a:t>
            </a:r>
            <a:endParaRPr lang="en-US" sz="3400" dirty="0">
              <a:solidFill>
                <a:srgbClr val="FF0000"/>
              </a:solidFill>
            </a:endParaRPr>
          </a:p>
        </p:txBody>
      </p:sp>
      <p:sp>
        <p:nvSpPr>
          <p:cNvPr id="78" name="Shape 7">
            <a:extLst>
              <a:ext uri="{FF2B5EF4-FFF2-40B4-BE49-F238E27FC236}">
                <a16:creationId xmlns:a16="http://schemas.microsoft.com/office/drawing/2014/main" id="{5DA69848-9E01-F81A-6D93-B43C56742C24}"/>
              </a:ext>
            </a:extLst>
          </p:cNvPr>
          <p:cNvSpPr/>
          <p:nvPr/>
        </p:nvSpPr>
        <p:spPr>
          <a:xfrm>
            <a:off x="456939" y="3510209"/>
            <a:ext cx="5492315" cy="9624"/>
          </a:xfrm>
          <a:prstGeom prst="roundRect">
            <a:avLst>
              <a:gd name="adj" fmla="val 50000"/>
            </a:avLst>
          </a:prstGeom>
          <a:solidFill>
            <a:srgbClr val="D8CBBA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80" name="Shape 7">
            <a:extLst>
              <a:ext uri="{FF2B5EF4-FFF2-40B4-BE49-F238E27FC236}">
                <a16:creationId xmlns:a16="http://schemas.microsoft.com/office/drawing/2014/main" id="{41CB186B-2D6A-4221-9362-0EE908E2627B}"/>
              </a:ext>
            </a:extLst>
          </p:cNvPr>
          <p:cNvSpPr/>
          <p:nvPr/>
        </p:nvSpPr>
        <p:spPr>
          <a:xfrm>
            <a:off x="456939" y="4526917"/>
            <a:ext cx="5492315" cy="9624"/>
          </a:xfrm>
          <a:prstGeom prst="roundRect">
            <a:avLst>
              <a:gd name="adj" fmla="val 50000"/>
            </a:avLst>
          </a:prstGeom>
          <a:solidFill>
            <a:srgbClr val="D8CBBA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82" name="Shape 14">
            <a:extLst>
              <a:ext uri="{FF2B5EF4-FFF2-40B4-BE49-F238E27FC236}">
                <a16:creationId xmlns:a16="http://schemas.microsoft.com/office/drawing/2014/main" id="{66086E45-173A-6E03-795A-7CAD4C0FF645}"/>
              </a:ext>
            </a:extLst>
          </p:cNvPr>
          <p:cNvSpPr/>
          <p:nvPr/>
        </p:nvSpPr>
        <p:spPr>
          <a:xfrm>
            <a:off x="5381376" y="1585624"/>
            <a:ext cx="6319169" cy="4919534"/>
          </a:xfrm>
          <a:prstGeom prst="roundRect">
            <a:avLst>
              <a:gd name="adj" fmla="val 2902"/>
            </a:avLst>
          </a:prstGeom>
          <a:solidFill>
            <a:srgbClr val="EFE4D4"/>
          </a:solidFill>
          <a:ln/>
        </p:spPr>
        <p:txBody>
          <a:bodyPr/>
          <a:lstStyle/>
          <a:p>
            <a:endParaRPr lang="en-IN" dirty="0"/>
          </a:p>
        </p:txBody>
      </p:sp>
      <p:pic>
        <p:nvPicPr>
          <p:cNvPr id="89" name="Picture 88">
            <a:extLst>
              <a:ext uri="{FF2B5EF4-FFF2-40B4-BE49-F238E27FC236}">
                <a16:creationId xmlns:a16="http://schemas.microsoft.com/office/drawing/2014/main" id="{A4750BD3-40E6-EE28-C0E4-B1A152600A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8859" y="1712989"/>
            <a:ext cx="5904421" cy="3288030"/>
          </a:xfrm>
          <a:prstGeom prst="rect">
            <a:avLst/>
          </a:prstGeom>
        </p:spPr>
      </p:pic>
      <p:sp>
        <p:nvSpPr>
          <p:cNvPr id="91" name="TextBox 90">
            <a:extLst>
              <a:ext uri="{FF2B5EF4-FFF2-40B4-BE49-F238E27FC236}">
                <a16:creationId xmlns:a16="http://schemas.microsoft.com/office/drawing/2014/main" id="{F4BDA378-B295-58E0-0C2F-32B5A4D955F8}"/>
              </a:ext>
            </a:extLst>
          </p:cNvPr>
          <p:cNvSpPr txBox="1"/>
          <p:nvPr/>
        </p:nvSpPr>
        <p:spPr>
          <a:xfrm>
            <a:off x="474071" y="1593957"/>
            <a:ext cx="6097554" cy="2676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100" spc="88" dirty="0">
                <a:solidFill>
                  <a:srgbClr val="625950"/>
                </a:solidFill>
                <a:latin typeface="Geist Mono Medium" pitchFamily="34" charset="0"/>
                <a:ea typeface="Geist Mono Medium" pitchFamily="34" charset="-122"/>
                <a:cs typeface="Geist Mono Medium" pitchFamily="34" charset="0"/>
              </a:rPr>
              <a:t>Best Machine</a:t>
            </a:r>
            <a:endParaRPr lang="en-US" sz="1100" dirty="0"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F96E90EA-AE2A-7DF9-8B3A-96C5B39EB2D8}"/>
              </a:ext>
            </a:extLst>
          </p:cNvPr>
          <p:cNvSpPr txBox="1"/>
          <p:nvPr/>
        </p:nvSpPr>
        <p:spPr>
          <a:xfrm>
            <a:off x="491455" y="1975595"/>
            <a:ext cx="6097554" cy="535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3400" kern="100" spc="-68" dirty="0">
                <a:solidFill>
                  <a:schemeClr val="accent6"/>
                </a:solidFill>
                <a:latin typeface="Geist Medium" pitchFamily="34" charset="0"/>
                <a:ea typeface="Geist Medium" pitchFamily="34" charset="-122"/>
                <a:cs typeface="Geist Medium" pitchFamily="34" charset="0"/>
              </a:rPr>
              <a:t>Grinding Machine</a:t>
            </a:r>
            <a:endParaRPr lang="en-US" sz="3400" dirty="0">
              <a:solidFill>
                <a:schemeClr val="accent6"/>
              </a:solidFill>
            </a:endParaRPr>
          </a:p>
        </p:txBody>
      </p:sp>
      <p:sp>
        <p:nvSpPr>
          <p:cNvPr id="95" name="Text 8">
            <a:extLst>
              <a:ext uri="{FF2B5EF4-FFF2-40B4-BE49-F238E27FC236}">
                <a16:creationId xmlns:a16="http://schemas.microsoft.com/office/drawing/2014/main" id="{A1DB528D-1708-65BA-294D-CB4C7D73DEB5}"/>
              </a:ext>
            </a:extLst>
          </p:cNvPr>
          <p:cNvSpPr/>
          <p:nvPr/>
        </p:nvSpPr>
        <p:spPr>
          <a:xfrm>
            <a:off x="604723" y="4779771"/>
            <a:ext cx="2946426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100" spc="88" dirty="0">
                <a:solidFill>
                  <a:srgbClr val="625950"/>
                </a:solidFill>
                <a:latin typeface="Geist Mono Medium" pitchFamily="34" charset="0"/>
                <a:ea typeface="Geist Mono Medium" pitchFamily="34" charset="-122"/>
                <a:cs typeface="Geist Mono Medium" pitchFamily="34" charset="0"/>
              </a:rPr>
              <a:t>Total Downtime Hours</a:t>
            </a:r>
            <a:endParaRPr lang="en-US" sz="1100" dirty="0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6D935569-A263-2374-1649-BB9C6111A8F2}"/>
              </a:ext>
            </a:extLst>
          </p:cNvPr>
          <p:cNvSpPr txBox="1"/>
          <p:nvPr/>
        </p:nvSpPr>
        <p:spPr>
          <a:xfrm>
            <a:off x="491455" y="4990861"/>
            <a:ext cx="2519526" cy="535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3400" kern="100" spc="-68" dirty="0">
                <a:solidFill>
                  <a:schemeClr val="accent2"/>
                </a:solidFill>
                <a:latin typeface="Geist Medium" pitchFamily="34" charset="0"/>
                <a:ea typeface="Geist Medium" pitchFamily="34" charset="-122"/>
                <a:cs typeface="Geist Medium" pitchFamily="34" charset="0"/>
              </a:rPr>
              <a:t>4,118 </a:t>
            </a:r>
            <a:r>
              <a:rPr lang="en-US" sz="3400" kern="100" spc="-68" dirty="0" err="1">
                <a:solidFill>
                  <a:schemeClr val="accent2"/>
                </a:solidFill>
                <a:latin typeface="Geist Medium" pitchFamily="34" charset="0"/>
                <a:ea typeface="Geist Medium" pitchFamily="34" charset="-122"/>
                <a:cs typeface="Geist Medium" pitchFamily="34" charset="0"/>
              </a:rPr>
              <a:t>Hrs</a:t>
            </a:r>
            <a:endParaRPr lang="en-US" sz="3400" dirty="0">
              <a:solidFill>
                <a:schemeClr val="accent2"/>
              </a:solidFill>
            </a:endParaRP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24419884-02EB-59AF-4ADE-809B9DE87417}"/>
              </a:ext>
            </a:extLst>
          </p:cNvPr>
          <p:cNvSpPr txBox="1"/>
          <p:nvPr/>
        </p:nvSpPr>
        <p:spPr>
          <a:xfrm>
            <a:off x="5449211" y="5123325"/>
            <a:ext cx="619148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t">
              <a:lnSpc>
                <a:spcPct val="100000"/>
              </a:lnSpc>
              <a:buNone/>
            </a:pPr>
            <a:r>
              <a:rPr lang="en-IN" sz="1600" dirty="0">
                <a:latin typeface="Geist" charset="0"/>
                <a:ea typeface="Geist" charset="0"/>
                <a:cs typeface="Geist" charset="0"/>
              </a:rPr>
              <a:t>• This dashboard </a:t>
            </a:r>
            <a:r>
              <a:rPr lang="en-IN" sz="1600" dirty="0" err="1">
                <a:latin typeface="Geist" charset="0"/>
                <a:ea typeface="Geist" charset="0"/>
                <a:cs typeface="Geist" charset="0"/>
              </a:rPr>
              <a:t>analyzes</a:t>
            </a:r>
            <a:r>
              <a:rPr lang="en-IN" sz="1600" dirty="0">
                <a:latin typeface="Geist" charset="0"/>
                <a:ea typeface="Geist" charset="0"/>
                <a:cs typeface="Geist" charset="0"/>
              </a:rPr>
              <a:t> machine-level production, downtime, and maintenance performance across manufacturing plants.</a:t>
            </a:r>
          </a:p>
          <a:p>
            <a:endParaRPr lang="en-IN" sz="1600" dirty="0">
              <a:latin typeface="Geist" charset="0"/>
              <a:ea typeface="Geist" charset="0"/>
              <a:cs typeface="Geist" charset="0"/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7DDEC63F-8915-CAF0-779E-FF55DC96993A}"/>
              </a:ext>
            </a:extLst>
          </p:cNvPr>
          <p:cNvSpPr txBox="1"/>
          <p:nvPr/>
        </p:nvSpPr>
        <p:spPr>
          <a:xfrm>
            <a:off x="5449211" y="5672757"/>
            <a:ext cx="645435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t">
              <a:lnSpc>
                <a:spcPct val="100000"/>
              </a:lnSpc>
              <a:buNone/>
            </a:pPr>
            <a:r>
              <a:rPr lang="en-IN" sz="1600" dirty="0">
                <a:latin typeface="Geist" charset="0"/>
                <a:ea typeface="Geist" charset="0"/>
                <a:cs typeface="Geist" charset="0"/>
              </a:rPr>
              <a:t>• It helps identify the best-performing machines, track downtime trends, compare maintenance costs, and improve equipment utilization.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7">
            <a:extLst>
              <a:ext uri="{FF2B5EF4-FFF2-40B4-BE49-F238E27FC236}">
                <a16:creationId xmlns:a16="http://schemas.microsoft.com/office/drawing/2014/main" id="{8B621D97-4457-135F-7BB2-C0450B386130}"/>
              </a:ext>
            </a:extLst>
          </p:cNvPr>
          <p:cNvSpPr/>
          <p:nvPr/>
        </p:nvSpPr>
        <p:spPr>
          <a:xfrm>
            <a:off x="11103188" y="6048137"/>
            <a:ext cx="791051" cy="193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21000"/>
              </a:lnSpc>
              <a:buNone/>
            </a:pPr>
            <a:r>
              <a:rPr lang="en-US" sz="1050" kern="100" spc="84" dirty="0">
                <a:solidFill>
                  <a:srgbClr val="625950"/>
                </a:solidFill>
                <a:latin typeface="Geist Mono" pitchFamily="34" charset="0"/>
                <a:ea typeface="Geist Mono" pitchFamily="34" charset="-122"/>
                <a:cs typeface="Geist Mono" pitchFamily="34" charset="0"/>
              </a:rPr>
              <a:t>13</a:t>
            </a:r>
            <a:endParaRPr lang="en-US" sz="105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682B893-F49C-506F-AD84-7BA07D4757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7159" y="6248347"/>
            <a:ext cx="1699407" cy="60965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54D1F6F-2D62-C5D4-B623-0298574E9399}"/>
              </a:ext>
            </a:extLst>
          </p:cNvPr>
          <p:cNvSpPr txBox="1"/>
          <p:nvPr/>
        </p:nvSpPr>
        <p:spPr>
          <a:xfrm>
            <a:off x="484967" y="394492"/>
            <a:ext cx="1297940" cy="4360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100" kern="100" spc="88" dirty="0">
                <a:solidFill>
                  <a:srgbClr val="625950"/>
                </a:solidFill>
                <a:latin typeface="Geist Mono Medium" pitchFamily="34" charset="0"/>
                <a:ea typeface="Geist Mono Medium" pitchFamily="34" charset="-122"/>
                <a:cs typeface="Geist Mono Medium" pitchFamily="34" charset="0"/>
              </a:rPr>
              <a:t>Dynamic RLS</a:t>
            </a:r>
            <a:endParaRPr lang="en-US" sz="1100" dirty="0"/>
          </a:p>
          <a:p>
            <a:pPr marL="0" indent="0" algn="l">
              <a:lnSpc>
                <a:spcPct val="108000"/>
              </a:lnSpc>
              <a:buNone/>
            </a:pPr>
            <a:endParaRPr lang="en-US" sz="1100" dirty="0"/>
          </a:p>
        </p:txBody>
      </p:sp>
      <p:sp>
        <p:nvSpPr>
          <p:cNvPr id="9" name="Shape 3">
            <a:extLst>
              <a:ext uri="{FF2B5EF4-FFF2-40B4-BE49-F238E27FC236}">
                <a16:creationId xmlns:a16="http://schemas.microsoft.com/office/drawing/2014/main" id="{1B40AE26-0091-C040-64B8-C7ABF61B8909}"/>
              </a:ext>
            </a:extLst>
          </p:cNvPr>
          <p:cNvSpPr/>
          <p:nvPr/>
        </p:nvSpPr>
        <p:spPr>
          <a:xfrm>
            <a:off x="7990852" y="1507927"/>
            <a:ext cx="9624" cy="2300089"/>
          </a:xfrm>
          <a:prstGeom prst="roundRect">
            <a:avLst>
              <a:gd name="adj" fmla="val 50000"/>
            </a:avLst>
          </a:prstGeom>
          <a:solidFill>
            <a:srgbClr val="D8CBBA"/>
          </a:solidFill>
          <a:ln/>
        </p:spPr>
      </p:sp>
      <p:sp>
        <p:nvSpPr>
          <p:cNvPr id="11" name="Shape 7">
            <a:extLst>
              <a:ext uri="{FF2B5EF4-FFF2-40B4-BE49-F238E27FC236}">
                <a16:creationId xmlns:a16="http://schemas.microsoft.com/office/drawing/2014/main" id="{1052770A-EDAC-FBBA-E2E8-689A9763433D}"/>
              </a:ext>
            </a:extLst>
          </p:cNvPr>
          <p:cNvSpPr/>
          <p:nvPr/>
        </p:nvSpPr>
        <p:spPr>
          <a:xfrm>
            <a:off x="4338305" y="3797300"/>
            <a:ext cx="3663461" cy="9624"/>
          </a:xfrm>
          <a:prstGeom prst="roundRect">
            <a:avLst>
              <a:gd name="adj" fmla="val 50000"/>
            </a:avLst>
          </a:prstGeom>
          <a:solidFill>
            <a:srgbClr val="D8CBBA"/>
          </a:solidFill>
          <a:ln/>
        </p:spPr>
      </p:sp>
      <p:sp>
        <p:nvSpPr>
          <p:cNvPr id="13" name="Shape 9">
            <a:extLst>
              <a:ext uri="{FF2B5EF4-FFF2-40B4-BE49-F238E27FC236}">
                <a16:creationId xmlns:a16="http://schemas.microsoft.com/office/drawing/2014/main" id="{381B7676-188B-9E59-98C7-30740D3D71F9}"/>
              </a:ext>
            </a:extLst>
          </p:cNvPr>
          <p:cNvSpPr/>
          <p:nvPr/>
        </p:nvSpPr>
        <p:spPr>
          <a:xfrm>
            <a:off x="7990852" y="3796010"/>
            <a:ext cx="9624" cy="2300089"/>
          </a:xfrm>
          <a:prstGeom prst="roundRect">
            <a:avLst>
              <a:gd name="adj" fmla="val 50000"/>
            </a:avLst>
          </a:prstGeom>
          <a:solidFill>
            <a:srgbClr val="D8CBBA"/>
          </a:solidFill>
          <a:ln/>
        </p:spPr>
      </p:sp>
      <p:sp>
        <p:nvSpPr>
          <p:cNvPr id="15" name="Shape 10">
            <a:extLst>
              <a:ext uri="{FF2B5EF4-FFF2-40B4-BE49-F238E27FC236}">
                <a16:creationId xmlns:a16="http://schemas.microsoft.com/office/drawing/2014/main" id="{34A27D2C-9FF1-AA94-41CA-54A21EC13A0C}"/>
              </a:ext>
            </a:extLst>
          </p:cNvPr>
          <p:cNvSpPr/>
          <p:nvPr/>
        </p:nvSpPr>
        <p:spPr>
          <a:xfrm>
            <a:off x="7989662" y="3797300"/>
            <a:ext cx="3669613" cy="9624"/>
          </a:xfrm>
          <a:prstGeom prst="roundRect">
            <a:avLst>
              <a:gd name="adj" fmla="val 50000"/>
            </a:avLst>
          </a:prstGeom>
          <a:solidFill>
            <a:srgbClr val="D8CBBA"/>
          </a:solidFill>
          <a:ln/>
        </p:spPr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9DB1A901-CFA5-7161-D9FE-05E907C43E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1149" y="1507927"/>
            <a:ext cx="3667432" cy="2155520"/>
          </a:xfrm>
          <a:prstGeom prst="rect">
            <a:avLst/>
          </a:prstGeom>
        </p:spPr>
      </p:pic>
      <p:sp>
        <p:nvSpPr>
          <p:cNvPr id="27" name="Shape 9">
            <a:extLst>
              <a:ext uri="{FF2B5EF4-FFF2-40B4-BE49-F238E27FC236}">
                <a16:creationId xmlns:a16="http://schemas.microsoft.com/office/drawing/2014/main" id="{6F2B5041-7D75-925E-15A7-5EEE93A7E3F2}"/>
              </a:ext>
            </a:extLst>
          </p:cNvPr>
          <p:cNvSpPr/>
          <p:nvPr/>
        </p:nvSpPr>
        <p:spPr>
          <a:xfrm>
            <a:off x="7990852" y="4161770"/>
            <a:ext cx="9624" cy="2300089"/>
          </a:xfrm>
          <a:prstGeom prst="roundRect">
            <a:avLst>
              <a:gd name="adj" fmla="val 50000"/>
            </a:avLst>
          </a:prstGeom>
          <a:solidFill>
            <a:srgbClr val="D8CBBA"/>
          </a:solidFill>
          <a:ln/>
        </p:spPr>
      </p:sp>
      <p:sp>
        <p:nvSpPr>
          <p:cNvPr id="29" name="Shape 3">
            <a:extLst>
              <a:ext uri="{FF2B5EF4-FFF2-40B4-BE49-F238E27FC236}">
                <a16:creationId xmlns:a16="http://schemas.microsoft.com/office/drawing/2014/main" id="{D2A431DA-215C-EC3E-7E5B-E3E2EFFD0520}"/>
              </a:ext>
            </a:extLst>
          </p:cNvPr>
          <p:cNvSpPr/>
          <p:nvPr/>
        </p:nvSpPr>
        <p:spPr>
          <a:xfrm>
            <a:off x="7990852" y="1162487"/>
            <a:ext cx="9624" cy="2300089"/>
          </a:xfrm>
          <a:prstGeom prst="roundRect">
            <a:avLst>
              <a:gd name="adj" fmla="val 50000"/>
            </a:avLst>
          </a:prstGeom>
          <a:solidFill>
            <a:srgbClr val="D8CBBA"/>
          </a:solidFill>
          <a:ln/>
        </p:spPr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6C8CF302-4FF1-58A2-FA35-14DEC7DE5A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2747" y="1507928"/>
            <a:ext cx="3536528" cy="2155520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7F4A5832-F192-6A91-D329-28965E756CE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14744" y="4161770"/>
            <a:ext cx="3653837" cy="2271217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275421D5-82BA-DD63-5E25-502E13C8AA21}"/>
              </a:ext>
            </a:extLst>
          </p:cNvPr>
          <p:cNvSpPr txBox="1"/>
          <p:nvPr/>
        </p:nvSpPr>
        <p:spPr>
          <a:xfrm>
            <a:off x="4201149" y="1107317"/>
            <a:ext cx="2088963" cy="4360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100" kern="100" spc="88" dirty="0">
                <a:solidFill>
                  <a:srgbClr val="625950"/>
                </a:solidFill>
                <a:latin typeface="Geist Mono Medium" pitchFamily="34" charset="0"/>
                <a:ea typeface="Geist Mono Medium" pitchFamily="34" charset="-122"/>
                <a:cs typeface="Geist Mono Medium" pitchFamily="34" charset="0"/>
              </a:rPr>
              <a:t>CEO View</a:t>
            </a:r>
            <a:endParaRPr lang="en-US" sz="1100" dirty="0"/>
          </a:p>
          <a:p>
            <a:pPr marL="0" indent="0" algn="l">
              <a:lnSpc>
                <a:spcPct val="108000"/>
              </a:lnSpc>
              <a:buNone/>
            </a:pPr>
            <a:endParaRPr lang="en-US" sz="11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A112E6F-DFB4-10CA-2204-427E3E1005F4}"/>
              </a:ext>
            </a:extLst>
          </p:cNvPr>
          <p:cNvSpPr txBox="1"/>
          <p:nvPr/>
        </p:nvSpPr>
        <p:spPr>
          <a:xfrm>
            <a:off x="8052648" y="1107749"/>
            <a:ext cx="6101080" cy="4360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100" kern="100" spc="88" dirty="0">
                <a:solidFill>
                  <a:srgbClr val="625950"/>
                </a:solidFill>
                <a:latin typeface="Geist Mono Medium" pitchFamily="34" charset="0"/>
                <a:ea typeface="Geist Mono Medium" pitchFamily="34" charset="-122"/>
                <a:cs typeface="Geist Mono Medium" pitchFamily="34" charset="0"/>
              </a:rPr>
              <a:t>Regional Manager View</a:t>
            </a:r>
            <a:endParaRPr lang="en-US" sz="1100" dirty="0"/>
          </a:p>
          <a:p>
            <a:pPr marL="0" indent="0" algn="l">
              <a:lnSpc>
                <a:spcPct val="108000"/>
              </a:lnSpc>
              <a:buNone/>
            </a:pPr>
            <a:endParaRPr lang="en-US" sz="1100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E89239C-6B75-91F0-6036-F0178D1D3CD2}"/>
              </a:ext>
            </a:extLst>
          </p:cNvPr>
          <p:cNvSpPr txBox="1"/>
          <p:nvPr/>
        </p:nvSpPr>
        <p:spPr>
          <a:xfrm>
            <a:off x="4201149" y="3839601"/>
            <a:ext cx="2050467" cy="4360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100" kern="100" spc="88" dirty="0">
                <a:solidFill>
                  <a:srgbClr val="625950"/>
                </a:solidFill>
                <a:latin typeface="Geist Mono Medium" pitchFamily="34" charset="0"/>
                <a:ea typeface="Geist Mono Medium" pitchFamily="34" charset="-122"/>
                <a:cs typeface="Geist Mono Medium" pitchFamily="34" charset="0"/>
              </a:rPr>
              <a:t>Plant Manager View</a:t>
            </a:r>
            <a:endParaRPr lang="en-US" sz="1100" dirty="0"/>
          </a:p>
          <a:p>
            <a:pPr marL="0" indent="0" algn="l">
              <a:lnSpc>
                <a:spcPct val="108000"/>
              </a:lnSpc>
              <a:buNone/>
            </a:pPr>
            <a:endParaRPr lang="en-US" sz="1100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9047100-2B56-96D3-450A-851E0F6A6816}"/>
              </a:ext>
            </a:extLst>
          </p:cNvPr>
          <p:cNvSpPr txBox="1"/>
          <p:nvPr/>
        </p:nvSpPr>
        <p:spPr>
          <a:xfrm>
            <a:off x="8122747" y="3923639"/>
            <a:ext cx="7076440" cy="4360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100" kern="100" spc="88" dirty="0">
                <a:solidFill>
                  <a:srgbClr val="625950"/>
                </a:solidFill>
                <a:latin typeface="Geist Mono Medium" pitchFamily="34" charset="0"/>
                <a:ea typeface="Geist Mono Medium" pitchFamily="34" charset="-122"/>
                <a:cs typeface="Geist Mono Medium" pitchFamily="34" charset="0"/>
              </a:rPr>
              <a:t>Security Flow</a:t>
            </a:r>
            <a:endParaRPr lang="en-US" sz="1100" dirty="0"/>
          </a:p>
          <a:p>
            <a:pPr marL="0" indent="0" algn="l">
              <a:lnSpc>
                <a:spcPct val="108000"/>
              </a:lnSpc>
              <a:buNone/>
            </a:pPr>
            <a:endParaRPr lang="en-US" sz="1100" dirty="0"/>
          </a:p>
        </p:txBody>
      </p:sp>
      <p:sp>
        <p:nvSpPr>
          <p:cNvPr id="42" name="Shape 14">
            <a:extLst>
              <a:ext uri="{FF2B5EF4-FFF2-40B4-BE49-F238E27FC236}">
                <a16:creationId xmlns:a16="http://schemas.microsoft.com/office/drawing/2014/main" id="{522FB553-B221-79FF-D1A4-C88ADCAF8440}"/>
              </a:ext>
            </a:extLst>
          </p:cNvPr>
          <p:cNvSpPr/>
          <p:nvPr/>
        </p:nvSpPr>
        <p:spPr>
          <a:xfrm>
            <a:off x="568601" y="3839601"/>
            <a:ext cx="3471481" cy="2585323"/>
          </a:xfrm>
          <a:prstGeom prst="roundRect">
            <a:avLst>
              <a:gd name="adj" fmla="val 2902"/>
            </a:avLst>
          </a:prstGeom>
          <a:solidFill>
            <a:srgbClr val="EFE4D4"/>
          </a:solidFill>
          <a:ln/>
        </p:spPr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2CD2A73-7C2E-90B0-07EF-1097129ED479}"/>
              </a:ext>
            </a:extLst>
          </p:cNvPr>
          <p:cNvSpPr txBox="1"/>
          <p:nvPr/>
        </p:nvSpPr>
        <p:spPr>
          <a:xfrm>
            <a:off x="620992" y="3998628"/>
            <a:ext cx="3471481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t">
              <a:lnSpc>
                <a:spcPct val="100000"/>
              </a:lnSpc>
              <a:buNone/>
            </a:pPr>
            <a:r>
              <a:rPr lang="en-IN" sz="1600" dirty="0">
                <a:latin typeface="Geist" charset="0"/>
                <a:ea typeface="Geist" charset="0"/>
                <a:cs typeface="Geist" charset="0"/>
              </a:rPr>
              <a:t>• Dynamic Row-Level Security (RLS) ensures that users can access only the data relevant to their assigned role.</a:t>
            </a:r>
          </a:p>
          <a:p>
            <a:pPr fontAlgn="t">
              <a:lnSpc>
                <a:spcPct val="100000"/>
              </a:lnSpc>
              <a:buNone/>
            </a:pPr>
            <a:endParaRPr lang="en-IN" sz="1600" dirty="0">
              <a:latin typeface="Geist" charset="0"/>
              <a:ea typeface="Geist" charset="0"/>
              <a:cs typeface="Geist" charset="0"/>
            </a:endParaRPr>
          </a:p>
          <a:p>
            <a:pPr fontAlgn="t">
              <a:lnSpc>
                <a:spcPct val="100000"/>
              </a:lnSpc>
              <a:buNone/>
            </a:pPr>
            <a:r>
              <a:rPr lang="en-IN" sz="1600" dirty="0">
                <a:latin typeface="Geist" charset="0"/>
                <a:ea typeface="Geist" charset="0"/>
                <a:cs typeface="Geist" charset="0"/>
              </a:rPr>
              <a:t>• Security is implemented using USERPRINCIPALNAME() and DIM_USER_ACCESS to provide personalized dashboard access.</a:t>
            </a:r>
          </a:p>
          <a:p>
            <a:endParaRPr lang="en-IN" sz="1600" dirty="0">
              <a:latin typeface="Geist" charset="0"/>
              <a:ea typeface="Geist" charset="0"/>
              <a:cs typeface="Geist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DF426C9-8C04-665E-66D7-DB43F999A5CD}"/>
              </a:ext>
            </a:extLst>
          </p:cNvPr>
          <p:cNvSpPr txBox="1"/>
          <p:nvPr/>
        </p:nvSpPr>
        <p:spPr>
          <a:xfrm>
            <a:off x="459740" y="605333"/>
            <a:ext cx="88595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t">
              <a:lnSpc>
                <a:spcPct val="100000"/>
              </a:lnSpc>
              <a:buNone/>
            </a:pPr>
            <a:r>
              <a:rPr lang="en-IN" b="1" dirty="0">
                <a:latin typeface="Geist Medium" charset="0"/>
                <a:ea typeface="Geist Medium" charset="0"/>
                <a:cs typeface="Geist Medium" charset="0"/>
              </a:rPr>
              <a:t>Dynamic RLS secures data by role</a:t>
            </a:r>
          </a:p>
          <a:p>
            <a:pPr fontAlgn="t">
              <a:lnSpc>
                <a:spcPct val="100000"/>
              </a:lnSpc>
              <a:buNone/>
            </a:pPr>
            <a:r>
              <a:rPr lang="en-IN" b="1" dirty="0">
                <a:latin typeface="Geist Medium" charset="0"/>
                <a:ea typeface="Geist Medium" charset="0"/>
                <a:cs typeface="Geist Medium" charset="0"/>
              </a:rPr>
              <a:t>Role-Based Access Control</a:t>
            </a:r>
          </a:p>
          <a:p>
            <a:pPr fontAlgn="t">
              <a:lnSpc>
                <a:spcPct val="100000"/>
              </a:lnSpc>
              <a:buNone/>
            </a:pPr>
            <a:endParaRPr lang="en-IN" dirty="0">
              <a:latin typeface="Geist Medium" charset="0"/>
              <a:ea typeface="Geist Medium" charset="0"/>
              <a:cs typeface="Geist Medium" charset="0"/>
            </a:endParaRPr>
          </a:p>
          <a:p>
            <a:endParaRPr lang="en-IN" dirty="0">
              <a:latin typeface="Geist Medium" charset="0"/>
              <a:ea typeface="Geist Medium" charset="0"/>
              <a:cs typeface="Geist Medium" charset="0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D3552EB-4C80-AD07-7038-A6AE0AC97C8E}"/>
              </a:ext>
            </a:extLst>
          </p:cNvPr>
          <p:cNvSpPr txBox="1"/>
          <p:nvPr/>
        </p:nvSpPr>
        <p:spPr>
          <a:xfrm>
            <a:off x="484967" y="1590967"/>
            <a:ext cx="333355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t">
              <a:lnSpc>
                <a:spcPct val="100000"/>
              </a:lnSpc>
            </a:pPr>
            <a:r>
              <a:rPr lang="en-IN" sz="1600" b="1" dirty="0">
                <a:latin typeface="Geist" charset="0"/>
                <a:ea typeface="Geist" charset="0"/>
                <a:cs typeface="Geist" charset="0"/>
              </a:rPr>
              <a:t>CEO</a:t>
            </a:r>
          </a:p>
          <a:p>
            <a:pPr marL="285750" indent="-285750" algn="ctr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Geist" charset="0"/>
                <a:ea typeface="Geist" charset="0"/>
                <a:cs typeface="Geist" charset="0"/>
              </a:rPr>
              <a:t>Access to All Plants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5610B95-4E92-430E-0B4A-D392760D97F4}"/>
              </a:ext>
            </a:extLst>
          </p:cNvPr>
          <p:cNvSpPr txBox="1"/>
          <p:nvPr/>
        </p:nvSpPr>
        <p:spPr>
          <a:xfrm>
            <a:off x="488328" y="2967335"/>
            <a:ext cx="388409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t">
              <a:lnSpc>
                <a:spcPct val="100000"/>
              </a:lnSpc>
            </a:pPr>
            <a:r>
              <a:rPr lang="en-IN" sz="1600" b="1" dirty="0">
                <a:latin typeface="Geist" charset="0"/>
                <a:ea typeface="Geist" charset="0"/>
                <a:cs typeface="Geist" charset="0"/>
              </a:rPr>
              <a:t>Plant Manager</a:t>
            </a:r>
          </a:p>
          <a:p>
            <a:pPr marL="285750" indent="-285750" algn="ctr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Geist" charset="0"/>
                <a:ea typeface="Geist" charset="0"/>
                <a:cs typeface="Geist" charset="0"/>
              </a:rPr>
              <a:t>Access to Assigned Plant</a:t>
            </a:r>
          </a:p>
          <a:p>
            <a:endParaRPr lang="en-IN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C5D4C6A-16D7-888B-734A-E932F2137E86}"/>
              </a:ext>
            </a:extLst>
          </p:cNvPr>
          <p:cNvSpPr txBox="1"/>
          <p:nvPr/>
        </p:nvSpPr>
        <p:spPr>
          <a:xfrm>
            <a:off x="488328" y="2248991"/>
            <a:ext cx="406335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t">
              <a:lnSpc>
                <a:spcPct val="100000"/>
              </a:lnSpc>
            </a:pPr>
            <a:r>
              <a:rPr lang="en-IN" sz="1600" b="1" dirty="0">
                <a:latin typeface="Geist" charset="0"/>
                <a:ea typeface="Geist" charset="0"/>
                <a:cs typeface="Geist" charset="0"/>
              </a:rPr>
              <a:t>Regional Manager</a:t>
            </a:r>
          </a:p>
          <a:p>
            <a:pPr marL="285750" indent="-285750" algn="ctr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Geist" charset="0"/>
                <a:ea typeface="Geist" charset="0"/>
                <a:cs typeface="Geist" charset="0"/>
              </a:rPr>
              <a:t>Access to Assigned Region</a:t>
            </a:r>
          </a:p>
          <a:p>
            <a:endParaRPr lang="en-IN" dirty="0">
              <a:latin typeface="Geist" charset="0"/>
              <a:ea typeface="Geist" charset="0"/>
              <a:cs typeface="Geist" charset="0"/>
            </a:endParaRPr>
          </a:p>
          <a:p>
            <a:endParaRPr lang="en-IN" dirty="0"/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7F3F3F08-5D20-CE9A-04B6-E4B023C589E2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87" t="11244" r="13344" b="30606"/>
          <a:stretch>
            <a:fillRect/>
          </a:stretch>
        </p:blipFill>
        <p:spPr>
          <a:xfrm>
            <a:off x="8869631" y="4219598"/>
            <a:ext cx="1971790" cy="2021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998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337E61A-7B9C-ABEC-55C7-AF58E30685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7159" y="6248347"/>
            <a:ext cx="1699407" cy="60965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2B5089E-22AB-3A21-1AB6-4CFFE8103D8E}"/>
              </a:ext>
            </a:extLst>
          </p:cNvPr>
          <p:cNvSpPr txBox="1"/>
          <p:nvPr/>
        </p:nvSpPr>
        <p:spPr>
          <a:xfrm>
            <a:off x="5915660" y="6110649"/>
            <a:ext cx="6101080" cy="2753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r">
              <a:lnSpc>
                <a:spcPct val="121000"/>
              </a:lnSpc>
              <a:buNone/>
            </a:pPr>
            <a:r>
              <a:rPr lang="en-US" sz="1050" kern="100" spc="84" dirty="0">
                <a:solidFill>
                  <a:srgbClr val="625950"/>
                </a:solidFill>
                <a:latin typeface="Geist Mono" pitchFamily="34" charset="0"/>
                <a:ea typeface="Geist Mono" pitchFamily="34" charset="-122"/>
                <a:cs typeface="Geist Mono" pitchFamily="34" charset="0"/>
              </a:rPr>
              <a:t>14</a:t>
            </a:r>
            <a:endParaRPr lang="en-US" sz="1050" dirty="0"/>
          </a:p>
        </p:txBody>
      </p:sp>
      <p:sp>
        <p:nvSpPr>
          <p:cNvPr id="7" name="Shape 14">
            <a:extLst>
              <a:ext uri="{FF2B5EF4-FFF2-40B4-BE49-F238E27FC236}">
                <a16:creationId xmlns:a16="http://schemas.microsoft.com/office/drawing/2014/main" id="{59793513-1AFB-DD1E-08E4-95E6F5068027}"/>
              </a:ext>
            </a:extLst>
          </p:cNvPr>
          <p:cNvSpPr/>
          <p:nvPr/>
        </p:nvSpPr>
        <p:spPr>
          <a:xfrm>
            <a:off x="6437822" y="435343"/>
            <a:ext cx="5202894" cy="6199672"/>
          </a:xfrm>
          <a:prstGeom prst="roundRect">
            <a:avLst>
              <a:gd name="adj" fmla="val 2902"/>
            </a:avLst>
          </a:prstGeom>
          <a:solidFill>
            <a:srgbClr val="EFE4D4"/>
          </a:solidFill>
          <a:ln/>
        </p:spPr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7393C01-9C37-0197-99F0-633027325C31}"/>
              </a:ext>
            </a:extLst>
          </p:cNvPr>
          <p:cNvSpPr txBox="1"/>
          <p:nvPr/>
        </p:nvSpPr>
        <p:spPr>
          <a:xfrm>
            <a:off x="459740" y="542184"/>
            <a:ext cx="6101080" cy="6052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kern="100" spc="88" dirty="0">
                <a:solidFill>
                  <a:srgbClr val="625950"/>
                </a:solidFill>
                <a:latin typeface="Geist Mono Medium" pitchFamily="34" charset="0"/>
                <a:ea typeface="Geist Mono Medium" pitchFamily="34" charset="-122"/>
                <a:cs typeface="Geist Mono Medium" pitchFamily="34" charset="0"/>
              </a:rPr>
              <a:t>Business Insights</a:t>
            </a:r>
            <a:endParaRPr lang="en-IN" dirty="0"/>
          </a:p>
          <a:p>
            <a:pPr>
              <a:lnSpc>
                <a:spcPct val="100000"/>
              </a:lnSpc>
            </a:pPr>
            <a:endParaRPr lang="en-US" sz="1100" dirty="0"/>
          </a:p>
          <a:p>
            <a:pPr marL="0" indent="0" algn="l">
              <a:lnSpc>
                <a:spcPct val="108000"/>
              </a:lnSpc>
              <a:buNone/>
            </a:pPr>
            <a:endParaRPr lang="en-US" sz="11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92AEFA7-81D7-FAB9-BC65-D7AA4BCC2992}"/>
              </a:ext>
            </a:extLst>
          </p:cNvPr>
          <p:cNvSpPr txBox="1"/>
          <p:nvPr/>
        </p:nvSpPr>
        <p:spPr>
          <a:xfrm>
            <a:off x="459740" y="730127"/>
            <a:ext cx="600201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t"/>
            <a:r>
              <a:rPr lang="en-IN" sz="2000" dirty="0">
                <a:latin typeface="Geist Medium" charset="0"/>
                <a:ea typeface="Geist Medium" charset="0"/>
                <a:cs typeface="Geist Medium" charset="0"/>
              </a:rPr>
              <a:t>Business insights transform data into decisions</a:t>
            </a:r>
          </a:p>
          <a:p>
            <a:pPr fontAlgn="t">
              <a:lnSpc>
                <a:spcPct val="100000"/>
              </a:lnSpc>
              <a:buNone/>
            </a:pPr>
            <a:endParaRPr lang="en-IN" sz="2000" dirty="0">
              <a:latin typeface="Geist Medium" charset="0"/>
              <a:ea typeface="Geist Medium" charset="0"/>
              <a:cs typeface="Geist Medium" charset="0"/>
            </a:endParaRPr>
          </a:p>
        </p:txBody>
      </p:sp>
      <p:sp>
        <p:nvSpPr>
          <p:cNvPr id="13" name="Text 2">
            <a:extLst>
              <a:ext uri="{FF2B5EF4-FFF2-40B4-BE49-F238E27FC236}">
                <a16:creationId xmlns:a16="http://schemas.microsoft.com/office/drawing/2014/main" id="{50C7DBB8-5AF8-02DC-EC8D-65C9308F52DE}"/>
              </a:ext>
            </a:extLst>
          </p:cNvPr>
          <p:cNvSpPr/>
          <p:nvPr/>
        </p:nvSpPr>
        <p:spPr>
          <a:xfrm>
            <a:off x="609585" y="1514911"/>
            <a:ext cx="5892752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100" spc="88" dirty="0">
                <a:solidFill>
                  <a:srgbClr val="625950"/>
                </a:solidFill>
                <a:latin typeface="Geist Mono Medium" pitchFamily="34" charset="0"/>
                <a:ea typeface="Geist Mono Medium" pitchFamily="34" charset="-122"/>
                <a:cs typeface="Geist Mono Medium" pitchFamily="34" charset="0"/>
              </a:rPr>
              <a:t>PRODUCTION ACHIEVEMENT %</a:t>
            </a:r>
            <a:endParaRPr lang="en-US" sz="1100" dirty="0"/>
          </a:p>
        </p:txBody>
      </p:sp>
      <p:sp>
        <p:nvSpPr>
          <p:cNvPr id="15" name="Text 3">
            <a:extLst>
              <a:ext uri="{FF2B5EF4-FFF2-40B4-BE49-F238E27FC236}">
                <a16:creationId xmlns:a16="http://schemas.microsoft.com/office/drawing/2014/main" id="{7CE64B10-8A92-1D92-803E-508AB3305232}"/>
              </a:ext>
            </a:extLst>
          </p:cNvPr>
          <p:cNvSpPr/>
          <p:nvPr/>
        </p:nvSpPr>
        <p:spPr>
          <a:xfrm>
            <a:off x="609585" y="1811635"/>
            <a:ext cx="5283167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800" dirty="0">
                <a:solidFill>
                  <a:srgbClr val="25A643"/>
                </a:solidFill>
                <a:latin typeface="Geist SemiBold" charset="0"/>
                <a:ea typeface="Geist SemiBold" charset="0"/>
                <a:cs typeface="Geist SemiBold" charset="0"/>
              </a:rPr>
              <a:t>95.42%</a:t>
            </a:r>
          </a:p>
        </p:txBody>
      </p:sp>
      <p:sp>
        <p:nvSpPr>
          <p:cNvPr id="17" name="Text 5">
            <a:extLst>
              <a:ext uri="{FF2B5EF4-FFF2-40B4-BE49-F238E27FC236}">
                <a16:creationId xmlns:a16="http://schemas.microsoft.com/office/drawing/2014/main" id="{47D50307-7D9B-69B8-73F4-5800F33C4630}"/>
              </a:ext>
            </a:extLst>
          </p:cNvPr>
          <p:cNvSpPr/>
          <p:nvPr/>
        </p:nvSpPr>
        <p:spPr>
          <a:xfrm>
            <a:off x="609585" y="2251624"/>
            <a:ext cx="5892653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100" spc="88" dirty="0">
                <a:solidFill>
                  <a:srgbClr val="625950"/>
                </a:solidFill>
                <a:latin typeface="Geist Mono Medium" pitchFamily="34" charset="0"/>
                <a:ea typeface="Geist Mono Medium" pitchFamily="34" charset="-122"/>
                <a:cs typeface="Geist Mono Medium" pitchFamily="34" charset="0"/>
              </a:rPr>
              <a:t>DEFECT RATE %</a:t>
            </a:r>
            <a:endParaRPr lang="en-US" sz="1100" dirty="0"/>
          </a:p>
        </p:txBody>
      </p:sp>
      <p:sp>
        <p:nvSpPr>
          <p:cNvPr id="19" name="Text 8">
            <a:extLst>
              <a:ext uri="{FF2B5EF4-FFF2-40B4-BE49-F238E27FC236}">
                <a16:creationId xmlns:a16="http://schemas.microsoft.com/office/drawing/2014/main" id="{989FDC8B-C755-8854-5879-D523A60951DE}"/>
              </a:ext>
            </a:extLst>
          </p:cNvPr>
          <p:cNvSpPr/>
          <p:nvPr/>
        </p:nvSpPr>
        <p:spPr>
          <a:xfrm>
            <a:off x="609585" y="3025995"/>
            <a:ext cx="5892752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100" spc="88" dirty="0">
                <a:solidFill>
                  <a:srgbClr val="625950"/>
                </a:solidFill>
                <a:latin typeface="Geist Mono Medium" pitchFamily="34" charset="0"/>
                <a:ea typeface="Geist Mono Medium" pitchFamily="34" charset="-122"/>
                <a:cs typeface="Geist Mono Medium" pitchFamily="34" charset="0"/>
              </a:rPr>
              <a:t>TOTAL MAINTENANCE COST</a:t>
            </a:r>
            <a:endParaRPr lang="en-US" sz="1100" dirty="0"/>
          </a:p>
        </p:txBody>
      </p:sp>
      <p:sp>
        <p:nvSpPr>
          <p:cNvPr id="21" name="Text 9">
            <a:extLst>
              <a:ext uri="{FF2B5EF4-FFF2-40B4-BE49-F238E27FC236}">
                <a16:creationId xmlns:a16="http://schemas.microsoft.com/office/drawing/2014/main" id="{76E6F961-670F-394F-A6C8-349010854011}"/>
              </a:ext>
            </a:extLst>
          </p:cNvPr>
          <p:cNvSpPr/>
          <p:nvPr/>
        </p:nvSpPr>
        <p:spPr>
          <a:xfrm>
            <a:off x="609585" y="3367921"/>
            <a:ext cx="5283167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800" dirty="0">
                <a:solidFill>
                  <a:srgbClr val="FF0000"/>
                </a:solidFill>
                <a:latin typeface="Geist SemiBold" charset="0"/>
                <a:ea typeface="Geist SemiBold" charset="0"/>
                <a:cs typeface="Geist SemiBold" charset="0"/>
              </a:rPr>
              <a:t>21.12 M</a:t>
            </a:r>
          </a:p>
        </p:txBody>
      </p:sp>
      <p:sp>
        <p:nvSpPr>
          <p:cNvPr id="23" name="Text 12">
            <a:extLst>
              <a:ext uri="{FF2B5EF4-FFF2-40B4-BE49-F238E27FC236}">
                <a16:creationId xmlns:a16="http://schemas.microsoft.com/office/drawing/2014/main" id="{18103025-75A0-9F9B-F4D8-CEB693975D67}"/>
              </a:ext>
            </a:extLst>
          </p:cNvPr>
          <p:cNvSpPr/>
          <p:nvPr/>
        </p:nvSpPr>
        <p:spPr>
          <a:xfrm>
            <a:off x="609584" y="3777270"/>
            <a:ext cx="5892653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100" spc="88" dirty="0">
                <a:solidFill>
                  <a:srgbClr val="625950"/>
                </a:solidFill>
                <a:latin typeface="Geist Mono Medium" pitchFamily="34" charset="0"/>
                <a:ea typeface="Geist Mono Medium" pitchFamily="34" charset="-122"/>
                <a:cs typeface="Geist Mono Medium" pitchFamily="34" charset="0"/>
              </a:rPr>
              <a:t>TOTAL DOWNTIME HOURS</a:t>
            </a:r>
            <a:endParaRPr lang="en-US" sz="11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3694113-C3FA-580B-295E-B4C02A5178A5}"/>
              </a:ext>
            </a:extLst>
          </p:cNvPr>
          <p:cNvSpPr txBox="1"/>
          <p:nvPr/>
        </p:nvSpPr>
        <p:spPr>
          <a:xfrm>
            <a:off x="518640" y="2495102"/>
            <a:ext cx="13687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rgbClr val="FF0000"/>
                </a:solidFill>
                <a:latin typeface="Geist SemiBold" charset="0"/>
                <a:ea typeface="Geist SemiBold" charset="0"/>
                <a:cs typeface="Geist SemiBold" charset="0"/>
              </a:rPr>
              <a:t>2.35%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722A198-CB17-2022-E792-C96EFFAC8C47}"/>
              </a:ext>
            </a:extLst>
          </p:cNvPr>
          <p:cNvSpPr txBox="1"/>
          <p:nvPr/>
        </p:nvSpPr>
        <p:spPr>
          <a:xfrm>
            <a:off x="503779" y="3966519"/>
            <a:ext cx="21554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chemeClr val="accent2"/>
                </a:solidFill>
                <a:latin typeface="Geist SemiBold" charset="0"/>
                <a:ea typeface="Geist SemiBold" charset="0"/>
                <a:cs typeface="Geist SemiBold" charset="0"/>
              </a:rPr>
              <a:t>4,118 Hrs</a:t>
            </a:r>
          </a:p>
        </p:txBody>
      </p:sp>
      <p:sp>
        <p:nvSpPr>
          <p:cNvPr id="29" name="Text 5">
            <a:extLst>
              <a:ext uri="{FF2B5EF4-FFF2-40B4-BE49-F238E27FC236}">
                <a16:creationId xmlns:a16="http://schemas.microsoft.com/office/drawing/2014/main" id="{1E2C3D17-0EB8-441C-6E55-BDC2B582DBC0}"/>
              </a:ext>
            </a:extLst>
          </p:cNvPr>
          <p:cNvSpPr/>
          <p:nvPr/>
        </p:nvSpPr>
        <p:spPr>
          <a:xfrm>
            <a:off x="604723" y="5349133"/>
            <a:ext cx="2946426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100" spc="88" dirty="0">
                <a:solidFill>
                  <a:srgbClr val="625950"/>
                </a:solidFill>
                <a:latin typeface="Geist Mono Medium" pitchFamily="34" charset="0"/>
                <a:ea typeface="Geist Mono Medium" pitchFamily="34" charset="-122"/>
                <a:cs typeface="Geist Mono Medium" pitchFamily="34" charset="0"/>
              </a:rPr>
              <a:t>Worst Machine</a:t>
            </a:r>
            <a:endParaRPr lang="en-US" sz="11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25025A7-8A37-C717-FF45-C0ED5CAEBE1A}"/>
              </a:ext>
            </a:extLst>
          </p:cNvPr>
          <p:cNvSpPr txBox="1"/>
          <p:nvPr/>
        </p:nvSpPr>
        <p:spPr>
          <a:xfrm>
            <a:off x="485626" y="5580205"/>
            <a:ext cx="3251872" cy="535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3400" kern="100" spc="-68" dirty="0">
                <a:solidFill>
                  <a:srgbClr val="FF0000"/>
                </a:solidFill>
                <a:latin typeface="Geist Medium" pitchFamily="34" charset="0"/>
                <a:ea typeface="Geist Medium" pitchFamily="34" charset="-122"/>
                <a:cs typeface="Geist Medium" pitchFamily="34" charset="0"/>
              </a:rPr>
              <a:t>CNC Machine</a:t>
            </a:r>
            <a:endParaRPr lang="en-US" sz="3400" dirty="0">
              <a:solidFill>
                <a:srgbClr val="FF0000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7BDB603-DEAB-D85D-4FED-E181610E1743}"/>
              </a:ext>
            </a:extLst>
          </p:cNvPr>
          <p:cNvSpPr txBox="1"/>
          <p:nvPr/>
        </p:nvSpPr>
        <p:spPr>
          <a:xfrm>
            <a:off x="474071" y="4418437"/>
            <a:ext cx="6097554" cy="2676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100" spc="88" dirty="0">
                <a:solidFill>
                  <a:srgbClr val="625950"/>
                </a:solidFill>
                <a:latin typeface="Geist Mono Medium" pitchFamily="34" charset="0"/>
                <a:ea typeface="Geist Mono Medium" pitchFamily="34" charset="-122"/>
                <a:cs typeface="Geist Mono Medium" pitchFamily="34" charset="0"/>
              </a:rPr>
              <a:t>Best Machine</a:t>
            </a:r>
            <a:endParaRPr lang="en-US" sz="11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48657FF-346B-8279-469C-3CEB78F5157F}"/>
              </a:ext>
            </a:extLst>
          </p:cNvPr>
          <p:cNvSpPr txBox="1"/>
          <p:nvPr/>
        </p:nvSpPr>
        <p:spPr>
          <a:xfrm>
            <a:off x="518640" y="4700634"/>
            <a:ext cx="6097554" cy="535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3400" kern="100" spc="-68" dirty="0">
                <a:solidFill>
                  <a:schemeClr val="accent6"/>
                </a:solidFill>
                <a:latin typeface="Geist Medium" pitchFamily="34" charset="0"/>
                <a:ea typeface="Geist Medium" pitchFamily="34" charset="-122"/>
                <a:cs typeface="Geist Medium" pitchFamily="34" charset="0"/>
              </a:rPr>
              <a:t>Grinding Machine</a:t>
            </a:r>
            <a:endParaRPr lang="en-US" sz="3400" dirty="0">
              <a:solidFill>
                <a:schemeClr val="accent6"/>
              </a:solidFill>
            </a:endParaRPr>
          </a:p>
        </p:txBody>
      </p:sp>
      <p:sp>
        <p:nvSpPr>
          <p:cNvPr id="37" name="Text 6">
            <a:extLst>
              <a:ext uri="{FF2B5EF4-FFF2-40B4-BE49-F238E27FC236}">
                <a16:creationId xmlns:a16="http://schemas.microsoft.com/office/drawing/2014/main" id="{AF858635-F74D-BCF6-969F-4085797B1427}"/>
              </a:ext>
            </a:extLst>
          </p:cNvPr>
          <p:cNvSpPr/>
          <p:nvPr/>
        </p:nvSpPr>
        <p:spPr>
          <a:xfrm>
            <a:off x="3312233" y="1528313"/>
            <a:ext cx="2336841" cy="243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1E1A17"/>
                </a:solidFill>
                <a:latin typeface="Geist Mono Medium" panose="020B0604020202020204" charset="0"/>
                <a:ea typeface="Geist Mono Medium" panose="020B0604020202020204" charset="0"/>
                <a:cs typeface="Geist Mono Medium" panose="020B0604020202020204" charset="0"/>
              </a:rPr>
              <a:t>Production Variance</a:t>
            </a:r>
            <a:endParaRPr lang="en-US" sz="1100" dirty="0">
              <a:latin typeface="Geist Mono Medium" panose="020B0604020202020204" charset="0"/>
              <a:ea typeface="Geist Mono Medium" panose="020B0604020202020204" charset="0"/>
              <a:cs typeface="Geist Mono Medium" panose="020B0604020202020204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781BC9A-2555-1A3D-00B4-11594BBAB64D}"/>
              </a:ext>
            </a:extLst>
          </p:cNvPr>
          <p:cNvSpPr txBox="1"/>
          <p:nvPr/>
        </p:nvSpPr>
        <p:spPr>
          <a:xfrm>
            <a:off x="3312233" y="1713633"/>
            <a:ext cx="6102220" cy="457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800" kern="100" spc="-68" dirty="0">
                <a:solidFill>
                  <a:srgbClr val="FF0000"/>
                </a:solidFill>
                <a:latin typeface="Geist Medium" pitchFamily="34" charset="0"/>
                <a:ea typeface="Geist Medium" pitchFamily="34" charset="-122"/>
                <a:cs typeface="Geist Medium" pitchFamily="34" charset="0"/>
              </a:rPr>
              <a:t>-130.91 K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41" name="Text 11">
            <a:extLst>
              <a:ext uri="{FF2B5EF4-FFF2-40B4-BE49-F238E27FC236}">
                <a16:creationId xmlns:a16="http://schemas.microsoft.com/office/drawing/2014/main" id="{A2304696-51C3-2025-5B4D-D88FDBC471DB}"/>
              </a:ext>
            </a:extLst>
          </p:cNvPr>
          <p:cNvSpPr/>
          <p:nvPr/>
        </p:nvSpPr>
        <p:spPr>
          <a:xfrm>
            <a:off x="3338397" y="3777787"/>
            <a:ext cx="3149521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100" spc="88" dirty="0">
                <a:solidFill>
                  <a:srgbClr val="625950"/>
                </a:solidFill>
                <a:latin typeface="Geist Mono Medium" pitchFamily="34" charset="0"/>
                <a:ea typeface="Geist Mono Medium" pitchFamily="34" charset="-122"/>
                <a:cs typeface="Geist Mono Medium" pitchFamily="34" charset="0"/>
              </a:rPr>
              <a:t>Total Downtime Events</a:t>
            </a:r>
            <a:endParaRPr lang="en-US" sz="1100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C6019BC-ED96-E7EB-8B22-7B6D9FD927A4}"/>
              </a:ext>
            </a:extLst>
          </p:cNvPr>
          <p:cNvSpPr txBox="1"/>
          <p:nvPr/>
        </p:nvSpPr>
        <p:spPr>
          <a:xfrm>
            <a:off x="3251607" y="3927471"/>
            <a:ext cx="2519526" cy="457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800" kern="100" spc="-68" dirty="0">
                <a:solidFill>
                  <a:schemeClr val="accent2"/>
                </a:solidFill>
                <a:latin typeface="Geist Medium" pitchFamily="34" charset="0"/>
                <a:ea typeface="Geist Medium" pitchFamily="34" charset="-122"/>
                <a:cs typeface="Geist Medium" pitchFamily="34" charset="0"/>
              </a:rPr>
              <a:t>3k</a:t>
            </a:r>
            <a:endParaRPr lang="en-US" sz="2800" dirty="0">
              <a:solidFill>
                <a:schemeClr val="accent2"/>
              </a:solidFill>
            </a:endParaRPr>
          </a:p>
        </p:txBody>
      </p:sp>
      <p:sp>
        <p:nvSpPr>
          <p:cNvPr id="45" name="Text 5">
            <a:extLst>
              <a:ext uri="{FF2B5EF4-FFF2-40B4-BE49-F238E27FC236}">
                <a16:creationId xmlns:a16="http://schemas.microsoft.com/office/drawing/2014/main" id="{55A67785-A674-BD33-A160-D8899AD65B9D}"/>
              </a:ext>
            </a:extLst>
          </p:cNvPr>
          <p:cNvSpPr/>
          <p:nvPr/>
        </p:nvSpPr>
        <p:spPr>
          <a:xfrm>
            <a:off x="3375011" y="3043231"/>
            <a:ext cx="2946426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100" spc="88" dirty="0">
                <a:solidFill>
                  <a:srgbClr val="625950"/>
                </a:solidFill>
                <a:latin typeface="Geist Mono Medium" pitchFamily="34" charset="0"/>
                <a:ea typeface="Geist Mono Medium" pitchFamily="34" charset="-122"/>
                <a:cs typeface="Geist Mono Medium" pitchFamily="34" charset="0"/>
              </a:rPr>
              <a:t>Cost per Event </a:t>
            </a:r>
            <a:endParaRPr lang="en-US" sz="1100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4F96A53-EC0A-3579-366E-34020BAFC522}"/>
              </a:ext>
            </a:extLst>
          </p:cNvPr>
          <p:cNvSpPr txBox="1"/>
          <p:nvPr/>
        </p:nvSpPr>
        <p:spPr>
          <a:xfrm>
            <a:off x="3203096" y="3270652"/>
            <a:ext cx="1625859" cy="457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800" kern="100" spc="-68" dirty="0">
                <a:solidFill>
                  <a:srgbClr val="FF0000"/>
                </a:solidFill>
                <a:latin typeface="Geist Medium" pitchFamily="34" charset="0"/>
                <a:ea typeface="Geist Medium" pitchFamily="34" charset="-122"/>
                <a:cs typeface="Geist Medium" pitchFamily="34" charset="0"/>
              </a:rPr>
              <a:t>6.52 K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49" name="Text 11">
            <a:extLst>
              <a:ext uri="{FF2B5EF4-FFF2-40B4-BE49-F238E27FC236}">
                <a16:creationId xmlns:a16="http://schemas.microsoft.com/office/drawing/2014/main" id="{42932BE5-BAB3-DE37-52E7-EAB7FCEE0F7D}"/>
              </a:ext>
            </a:extLst>
          </p:cNvPr>
          <p:cNvSpPr/>
          <p:nvPr/>
        </p:nvSpPr>
        <p:spPr>
          <a:xfrm>
            <a:off x="3312233" y="2252177"/>
            <a:ext cx="3149521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100" spc="88" dirty="0">
                <a:solidFill>
                  <a:srgbClr val="625950"/>
                </a:solidFill>
                <a:latin typeface="Geist Mono Medium" pitchFamily="34" charset="0"/>
                <a:ea typeface="Geist Mono Medium" pitchFamily="34" charset="-122"/>
                <a:cs typeface="Geist Mono Medium" pitchFamily="34" charset="0"/>
              </a:rPr>
              <a:t>TOTAL DEFECT QTY</a:t>
            </a:r>
            <a:endParaRPr lang="en-US" sz="1100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B9F8F9C-58BC-9958-C017-1979BE1B1313}"/>
              </a:ext>
            </a:extLst>
          </p:cNvPr>
          <p:cNvSpPr txBox="1"/>
          <p:nvPr/>
        </p:nvSpPr>
        <p:spPr>
          <a:xfrm>
            <a:off x="3256224" y="2419198"/>
            <a:ext cx="6172200" cy="457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800" kern="100" spc="-68" dirty="0">
                <a:solidFill>
                  <a:schemeClr val="accent2"/>
                </a:solidFill>
                <a:latin typeface="Geist Medium" pitchFamily="34" charset="0"/>
                <a:ea typeface="Geist Medium" pitchFamily="34" charset="-122"/>
                <a:cs typeface="Geist Medium" pitchFamily="34" charset="0"/>
              </a:rPr>
              <a:t>62.97 K</a:t>
            </a:r>
            <a:endParaRPr lang="en-US" sz="2800" dirty="0">
              <a:solidFill>
                <a:schemeClr val="accent2"/>
              </a:solidFill>
            </a:endParaRPr>
          </a:p>
        </p:txBody>
      </p:sp>
      <p:sp>
        <p:nvSpPr>
          <p:cNvPr id="53" name="Shape 7">
            <a:extLst>
              <a:ext uri="{FF2B5EF4-FFF2-40B4-BE49-F238E27FC236}">
                <a16:creationId xmlns:a16="http://schemas.microsoft.com/office/drawing/2014/main" id="{506DA0BE-35EA-6145-41EE-BB24078DB92D}"/>
              </a:ext>
            </a:extLst>
          </p:cNvPr>
          <p:cNvSpPr/>
          <p:nvPr/>
        </p:nvSpPr>
        <p:spPr>
          <a:xfrm>
            <a:off x="456939" y="4415157"/>
            <a:ext cx="5492315" cy="9624"/>
          </a:xfrm>
          <a:prstGeom prst="roundRect">
            <a:avLst>
              <a:gd name="adj" fmla="val 50000"/>
            </a:avLst>
          </a:prstGeom>
          <a:solidFill>
            <a:srgbClr val="D8CBBA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55" name="Shape 7">
            <a:extLst>
              <a:ext uri="{FF2B5EF4-FFF2-40B4-BE49-F238E27FC236}">
                <a16:creationId xmlns:a16="http://schemas.microsoft.com/office/drawing/2014/main" id="{F90032F5-07F2-B8CD-F05C-254FF3DD9C64}"/>
              </a:ext>
            </a:extLst>
          </p:cNvPr>
          <p:cNvSpPr/>
          <p:nvPr/>
        </p:nvSpPr>
        <p:spPr>
          <a:xfrm>
            <a:off x="456939" y="3714117"/>
            <a:ext cx="5492315" cy="9624"/>
          </a:xfrm>
          <a:prstGeom prst="roundRect">
            <a:avLst>
              <a:gd name="adj" fmla="val 50000"/>
            </a:avLst>
          </a:prstGeom>
          <a:solidFill>
            <a:srgbClr val="D8CBBA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57" name="Shape 7">
            <a:extLst>
              <a:ext uri="{FF2B5EF4-FFF2-40B4-BE49-F238E27FC236}">
                <a16:creationId xmlns:a16="http://schemas.microsoft.com/office/drawing/2014/main" id="{266D7580-FD4E-509B-8F47-B69AA1AEB6C6}"/>
              </a:ext>
            </a:extLst>
          </p:cNvPr>
          <p:cNvSpPr/>
          <p:nvPr/>
        </p:nvSpPr>
        <p:spPr>
          <a:xfrm>
            <a:off x="456939" y="2941957"/>
            <a:ext cx="5492315" cy="9624"/>
          </a:xfrm>
          <a:prstGeom prst="roundRect">
            <a:avLst>
              <a:gd name="adj" fmla="val 50000"/>
            </a:avLst>
          </a:prstGeom>
          <a:solidFill>
            <a:srgbClr val="D8CBBA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59" name="Shape 7">
            <a:extLst>
              <a:ext uri="{FF2B5EF4-FFF2-40B4-BE49-F238E27FC236}">
                <a16:creationId xmlns:a16="http://schemas.microsoft.com/office/drawing/2014/main" id="{1F78D897-DA66-0A57-A03B-8D058AB345B0}"/>
              </a:ext>
            </a:extLst>
          </p:cNvPr>
          <p:cNvSpPr/>
          <p:nvPr/>
        </p:nvSpPr>
        <p:spPr>
          <a:xfrm>
            <a:off x="456939" y="2169797"/>
            <a:ext cx="5492315" cy="9624"/>
          </a:xfrm>
          <a:prstGeom prst="roundRect">
            <a:avLst>
              <a:gd name="adj" fmla="val 50000"/>
            </a:avLst>
          </a:prstGeom>
          <a:solidFill>
            <a:srgbClr val="D8CBBA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61" name="Shape 7">
            <a:extLst>
              <a:ext uri="{FF2B5EF4-FFF2-40B4-BE49-F238E27FC236}">
                <a16:creationId xmlns:a16="http://schemas.microsoft.com/office/drawing/2014/main" id="{5DBA14BA-2322-CF58-0741-D8405FE86991}"/>
              </a:ext>
            </a:extLst>
          </p:cNvPr>
          <p:cNvSpPr/>
          <p:nvPr/>
        </p:nvSpPr>
        <p:spPr>
          <a:xfrm>
            <a:off x="456939" y="5207637"/>
            <a:ext cx="5492315" cy="9624"/>
          </a:xfrm>
          <a:prstGeom prst="roundRect">
            <a:avLst>
              <a:gd name="adj" fmla="val 50000"/>
            </a:avLst>
          </a:prstGeom>
          <a:solidFill>
            <a:srgbClr val="D8CBBA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63" name="Shape 7">
            <a:extLst>
              <a:ext uri="{FF2B5EF4-FFF2-40B4-BE49-F238E27FC236}">
                <a16:creationId xmlns:a16="http://schemas.microsoft.com/office/drawing/2014/main" id="{59D88506-4B1B-E993-7C2F-3AAE5CB909FC}"/>
              </a:ext>
            </a:extLst>
          </p:cNvPr>
          <p:cNvSpPr/>
          <p:nvPr/>
        </p:nvSpPr>
        <p:spPr>
          <a:xfrm>
            <a:off x="456939" y="6111877"/>
            <a:ext cx="5492315" cy="9624"/>
          </a:xfrm>
          <a:prstGeom prst="roundRect">
            <a:avLst>
              <a:gd name="adj" fmla="val 50000"/>
            </a:avLst>
          </a:prstGeom>
          <a:solidFill>
            <a:srgbClr val="D8CBBA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E360421-D9A4-6019-DF24-B12552302418}"/>
              </a:ext>
            </a:extLst>
          </p:cNvPr>
          <p:cNvSpPr txBox="1"/>
          <p:nvPr/>
        </p:nvSpPr>
        <p:spPr>
          <a:xfrm>
            <a:off x="6577333" y="945640"/>
            <a:ext cx="5022037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t">
              <a:lnSpc>
                <a:spcPct val="100000"/>
              </a:lnSpc>
              <a:buNone/>
            </a:pPr>
            <a:r>
              <a:rPr lang="en-IN" dirty="0">
                <a:latin typeface="Geist" charset="0"/>
                <a:ea typeface="Geist" charset="0"/>
                <a:cs typeface="Geist" charset="0"/>
              </a:rPr>
              <a:t>• Production operations achieved </a:t>
            </a:r>
            <a:r>
              <a:rPr lang="en-IN" b="1" dirty="0">
                <a:latin typeface="Geist" charset="0"/>
                <a:ea typeface="Geist" charset="0"/>
                <a:cs typeface="Geist" charset="0"/>
              </a:rPr>
              <a:t>95.42%</a:t>
            </a:r>
            <a:r>
              <a:rPr lang="en-IN" dirty="0">
                <a:latin typeface="Geist" charset="0"/>
                <a:ea typeface="Geist" charset="0"/>
                <a:cs typeface="Geist" charset="0"/>
              </a:rPr>
              <a:t> of the planned target, demonstrating strong overall manufacturing performance.</a:t>
            </a:r>
          </a:p>
          <a:p>
            <a:pPr fontAlgn="t">
              <a:lnSpc>
                <a:spcPct val="100000"/>
              </a:lnSpc>
              <a:buNone/>
            </a:pPr>
            <a:r>
              <a:rPr lang="en-IN" dirty="0">
                <a:latin typeface="Geist" charset="0"/>
                <a:ea typeface="Geist" charset="0"/>
                <a:cs typeface="Geist" charset="0"/>
              </a:rPr>
              <a:t>• The overall </a:t>
            </a:r>
            <a:r>
              <a:rPr lang="en-IN" b="1" dirty="0">
                <a:latin typeface="Geist" charset="0"/>
                <a:ea typeface="Geist" charset="0"/>
                <a:cs typeface="Geist" charset="0"/>
              </a:rPr>
              <a:t>Defect Rate of 2.35%</a:t>
            </a:r>
            <a:r>
              <a:rPr lang="en-IN" dirty="0">
                <a:latin typeface="Geist" charset="0"/>
                <a:ea typeface="Geist" charset="0"/>
                <a:cs typeface="Geist" charset="0"/>
              </a:rPr>
              <a:t> indicates effective quality control and inspection processes.</a:t>
            </a:r>
          </a:p>
          <a:p>
            <a:pPr fontAlgn="t">
              <a:lnSpc>
                <a:spcPct val="100000"/>
              </a:lnSpc>
              <a:buNone/>
            </a:pPr>
            <a:r>
              <a:rPr lang="en-IN" dirty="0">
                <a:latin typeface="Geist" charset="0"/>
                <a:ea typeface="Geist" charset="0"/>
                <a:cs typeface="Geist" charset="0"/>
              </a:rPr>
              <a:t>• Manufacturing plants recorded </a:t>
            </a:r>
            <a:r>
              <a:rPr lang="en-IN" b="1" dirty="0">
                <a:latin typeface="Geist" charset="0"/>
                <a:ea typeface="Geist" charset="0"/>
                <a:cs typeface="Geist" charset="0"/>
              </a:rPr>
              <a:t>4,118 Hours of Downtime</a:t>
            </a:r>
            <a:r>
              <a:rPr lang="en-IN" dirty="0">
                <a:latin typeface="Geist" charset="0"/>
                <a:ea typeface="Geist" charset="0"/>
                <a:cs typeface="Geist" charset="0"/>
              </a:rPr>
              <a:t>, highlighting opportunities for operational improvement.</a:t>
            </a:r>
          </a:p>
          <a:p>
            <a:pPr fontAlgn="t">
              <a:lnSpc>
                <a:spcPct val="100000"/>
              </a:lnSpc>
              <a:buNone/>
            </a:pPr>
            <a:r>
              <a:rPr lang="en-IN" dirty="0">
                <a:latin typeface="Geist" charset="0"/>
                <a:ea typeface="Geist" charset="0"/>
                <a:cs typeface="Geist" charset="0"/>
              </a:rPr>
              <a:t>• Total Maintenance Cost reached </a:t>
            </a:r>
            <a:r>
              <a:rPr lang="en-IN" b="1" dirty="0">
                <a:latin typeface="Geist" charset="0"/>
                <a:ea typeface="Geist" charset="0"/>
                <a:cs typeface="Geist" charset="0"/>
              </a:rPr>
              <a:t>₹21.12M</a:t>
            </a:r>
            <a:r>
              <a:rPr lang="en-IN" dirty="0">
                <a:latin typeface="Geist" charset="0"/>
                <a:ea typeface="Geist" charset="0"/>
                <a:cs typeface="Geist" charset="0"/>
              </a:rPr>
              <a:t>, enabling better maintenance planning and cost monitoring.</a:t>
            </a:r>
          </a:p>
          <a:p>
            <a:pPr fontAlgn="t">
              <a:lnSpc>
                <a:spcPct val="100000"/>
              </a:lnSpc>
              <a:buNone/>
            </a:pPr>
            <a:r>
              <a:rPr lang="en-IN" dirty="0">
                <a:latin typeface="Geist" charset="0"/>
                <a:ea typeface="Geist" charset="0"/>
                <a:cs typeface="Geist" charset="0"/>
              </a:rPr>
              <a:t>• </a:t>
            </a:r>
            <a:r>
              <a:rPr lang="en-IN" b="1" dirty="0">
                <a:latin typeface="Geist" charset="0"/>
                <a:ea typeface="Geist" charset="0"/>
                <a:cs typeface="Geist" charset="0"/>
              </a:rPr>
              <a:t>Grinding Machine</a:t>
            </a:r>
            <a:r>
              <a:rPr lang="en-IN" dirty="0">
                <a:latin typeface="Geist" charset="0"/>
                <a:ea typeface="Geist" charset="0"/>
                <a:cs typeface="Geist" charset="0"/>
              </a:rPr>
              <a:t> was identified as the best-performing machine, while </a:t>
            </a:r>
            <a:r>
              <a:rPr lang="en-IN" b="1" dirty="0">
                <a:latin typeface="Geist" charset="0"/>
                <a:ea typeface="Geist" charset="0"/>
                <a:cs typeface="Geist" charset="0"/>
              </a:rPr>
              <a:t>CNC Machine</a:t>
            </a:r>
            <a:r>
              <a:rPr lang="en-IN" dirty="0">
                <a:latin typeface="Geist" charset="0"/>
                <a:ea typeface="Geist" charset="0"/>
                <a:cs typeface="Geist" charset="0"/>
              </a:rPr>
              <a:t> recorded the highest downtime and requires focused maintenance attention.</a:t>
            </a:r>
          </a:p>
          <a:p>
            <a:pPr fontAlgn="t"/>
            <a:r>
              <a:rPr lang="en-IN" dirty="0">
                <a:latin typeface="Geist" charset="0"/>
                <a:ea typeface="Geist" charset="0"/>
                <a:cs typeface="Geist" charset="0"/>
              </a:rPr>
              <a:t>•The dashboard provides centralized KPI monitoring and enables faster, data-driven decision-making across manufacturing operations.</a:t>
            </a:r>
          </a:p>
          <a:p>
            <a:pPr fontAlgn="t">
              <a:lnSpc>
                <a:spcPct val="100000"/>
              </a:lnSpc>
              <a:buNone/>
            </a:pPr>
            <a:endParaRPr lang="en-IN" dirty="0">
              <a:latin typeface="Geist" charset="0"/>
              <a:ea typeface="Geist" charset="0"/>
              <a:cs typeface="Geist" charset="0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9374FE8E-71BC-AEE1-AEC1-D40FE1EF6B36}"/>
              </a:ext>
            </a:extLst>
          </p:cNvPr>
          <p:cNvSpPr txBox="1"/>
          <p:nvPr/>
        </p:nvSpPr>
        <p:spPr>
          <a:xfrm>
            <a:off x="6691878" y="582335"/>
            <a:ext cx="6101080" cy="6052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kern="100" spc="88" dirty="0">
                <a:solidFill>
                  <a:srgbClr val="625950"/>
                </a:solidFill>
                <a:latin typeface="Geist Mono Medium" pitchFamily="34" charset="0"/>
                <a:ea typeface="Geist Mono Medium" pitchFamily="34" charset="-122"/>
                <a:cs typeface="Geist Mono Medium" pitchFamily="34" charset="0"/>
              </a:rPr>
              <a:t>Key Business Insights</a:t>
            </a:r>
            <a:endParaRPr lang="en-IN" sz="1800" dirty="0"/>
          </a:p>
          <a:p>
            <a:pPr>
              <a:lnSpc>
                <a:spcPct val="100000"/>
              </a:lnSpc>
            </a:pPr>
            <a:endParaRPr lang="en-US" sz="1100" dirty="0"/>
          </a:p>
          <a:p>
            <a:pPr marL="0" indent="0" algn="l">
              <a:lnSpc>
                <a:spcPct val="108000"/>
              </a:lnSpc>
              <a:buNone/>
            </a:pP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9213631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7">
            <a:extLst>
              <a:ext uri="{FF2B5EF4-FFF2-40B4-BE49-F238E27FC236}">
                <a16:creationId xmlns:a16="http://schemas.microsoft.com/office/drawing/2014/main" id="{2B2E6F24-24A4-1467-F183-E19DB3389FFA}"/>
              </a:ext>
            </a:extLst>
          </p:cNvPr>
          <p:cNvSpPr/>
          <p:nvPr/>
        </p:nvSpPr>
        <p:spPr>
          <a:xfrm>
            <a:off x="11103188" y="6048137"/>
            <a:ext cx="791051" cy="193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21000"/>
              </a:lnSpc>
              <a:buNone/>
            </a:pPr>
            <a:r>
              <a:rPr lang="en-US" sz="1050" kern="100" spc="84" dirty="0">
                <a:solidFill>
                  <a:srgbClr val="625950"/>
                </a:solidFill>
                <a:latin typeface="Geist Mono" pitchFamily="34" charset="0"/>
                <a:ea typeface="Geist Mono" pitchFamily="34" charset="-122"/>
                <a:cs typeface="Geist Mono" pitchFamily="34" charset="0"/>
              </a:rPr>
              <a:t>15</a:t>
            </a:r>
            <a:endParaRPr lang="en-US" sz="105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3F798C7-6CF4-3B24-79D9-472477B14B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7159" y="6248347"/>
            <a:ext cx="1699407" cy="60965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7A24F31-CDA9-A87D-9C3F-DED6E2B84BC4}"/>
              </a:ext>
            </a:extLst>
          </p:cNvPr>
          <p:cNvSpPr txBox="1"/>
          <p:nvPr/>
        </p:nvSpPr>
        <p:spPr>
          <a:xfrm>
            <a:off x="459740" y="488054"/>
            <a:ext cx="1236980" cy="8822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kern="100" spc="88" dirty="0">
                <a:solidFill>
                  <a:srgbClr val="625950"/>
                </a:solidFill>
                <a:latin typeface="Geist Mono Medium" pitchFamily="34" charset="0"/>
                <a:ea typeface="Geist Mono Medium" pitchFamily="34" charset="-122"/>
                <a:cs typeface="Geist Mono Medium" pitchFamily="34" charset="0"/>
              </a:rPr>
              <a:t>Conclusion</a:t>
            </a:r>
            <a:endParaRPr lang="en-IN" dirty="0"/>
          </a:p>
          <a:p>
            <a:endParaRPr lang="en-IN" dirty="0"/>
          </a:p>
          <a:p>
            <a:pPr>
              <a:lnSpc>
                <a:spcPct val="100000"/>
              </a:lnSpc>
            </a:pPr>
            <a:endParaRPr lang="en-US" sz="1100" dirty="0"/>
          </a:p>
          <a:p>
            <a:pPr marL="0" indent="0" algn="l">
              <a:lnSpc>
                <a:spcPct val="108000"/>
              </a:lnSpc>
              <a:buNone/>
            </a:pPr>
            <a:endParaRPr lang="en-US" sz="11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B6F3D2D-41E2-94AB-1DED-C005FECD1002}"/>
              </a:ext>
            </a:extLst>
          </p:cNvPr>
          <p:cNvSpPr txBox="1"/>
          <p:nvPr/>
        </p:nvSpPr>
        <p:spPr>
          <a:xfrm>
            <a:off x="459740" y="780578"/>
            <a:ext cx="6002014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t"/>
            <a:r>
              <a:rPr lang="en-IN" dirty="0">
                <a:latin typeface="Geist Mono Medium" panose="020B0604020202020204" charset="0"/>
                <a:ea typeface="Geist Mono Medium" panose="020B0604020202020204" charset="0"/>
                <a:cs typeface="Geist Mono Medium" panose="020B0604020202020204" charset="0"/>
              </a:rPr>
              <a:t>From data to operational excellence</a:t>
            </a:r>
          </a:p>
          <a:p>
            <a:pPr fontAlgn="t">
              <a:lnSpc>
                <a:spcPct val="100000"/>
              </a:lnSpc>
              <a:buNone/>
            </a:pPr>
            <a:endParaRPr lang="en-IN" sz="2000" dirty="0">
              <a:latin typeface="Geist Mono Medium" panose="020B0604020202020204" charset="0"/>
              <a:ea typeface="Geist Mono Medium" panose="020B0604020202020204" charset="0"/>
              <a:cs typeface="Geist Mono Medium" panose="020B060402020202020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4935E8A-6E99-F0BE-45AC-4C6D56CF5705}"/>
              </a:ext>
            </a:extLst>
          </p:cNvPr>
          <p:cNvSpPr txBox="1"/>
          <p:nvPr/>
        </p:nvSpPr>
        <p:spPr>
          <a:xfrm>
            <a:off x="459740" y="1793876"/>
            <a:ext cx="2710180" cy="1424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kern="100" spc="88" dirty="0">
                <a:solidFill>
                  <a:srgbClr val="625950"/>
                </a:solidFill>
                <a:latin typeface="Geist SemiBold" charset="0"/>
                <a:ea typeface="Geist SemiBold" charset="0"/>
                <a:cs typeface="Geist SemiBold" charset="0"/>
              </a:rPr>
              <a:t>Project Outcome</a:t>
            </a:r>
            <a:endParaRPr lang="en-IN" sz="3200" dirty="0">
              <a:latin typeface="Geist SemiBold" charset="0"/>
              <a:ea typeface="Geist SemiBold" charset="0"/>
              <a:cs typeface="Geist SemiBold" charset="0"/>
            </a:endParaRPr>
          </a:p>
          <a:p>
            <a:endParaRPr lang="en-IN" sz="3200" dirty="0"/>
          </a:p>
          <a:p>
            <a:pPr>
              <a:lnSpc>
                <a:spcPct val="100000"/>
              </a:lnSpc>
            </a:pPr>
            <a:endParaRPr lang="en-US" dirty="0"/>
          </a:p>
          <a:p>
            <a:pPr marL="0" indent="0" algn="l">
              <a:lnSpc>
                <a:spcPct val="108000"/>
              </a:lnSpc>
              <a:buNone/>
            </a:pP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B8DA296-D80F-7C90-655E-ADBB1B248D08}"/>
              </a:ext>
            </a:extLst>
          </p:cNvPr>
          <p:cNvSpPr txBox="1"/>
          <p:nvPr/>
        </p:nvSpPr>
        <p:spPr>
          <a:xfrm>
            <a:off x="700533" y="2186136"/>
            <a:ext cx="584364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Geist" charset="0"/>
                <a:ea typeface="Geist" charset="0"/>
                <a:cs typeface="Geist" charset="0"/>
              </a:rPr>
              <a:t> End-to-End Manufacturing     Analytics Solution</a:t>
            </a:r>
          </a:p>
          <a:p>
            <a:pPr marL="285750" indent="-28575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Geist" charset="0"/>
                <a:ea typeface="Geist" charset="0"/>
                <a:cs typeface="Geist" charset="0"/>
              </a:rPr>
              <a:t> Snowflake Data Warehouse</a:t>
            </a:r>
          </a:p>
          <a:p>
            <a:pPr marL="285750" indent="-28575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Geist" charset="0"/>
                <a:ea typeface="Geist" charset="0"/>
                <a:cs typeface="Geist" charset="0"/>
              </a:rPr>
              <a:t> Star Schema Data </a:t>
            </a:r>
            <a:r>
              <a:rPr lang="en-IN" dirty="0" err="1">
                <a:latin typeface="Geist" charset="0"/>
                <a:ea typeface="Geist" charset="0"/>
                <a:cs typeface="Geist" charset="0"/>
              </a:rPr>
              <a:t>Modeling</a:t>
            </a:r>
            <a:endParaRPr lang="en-IN" dirty="0">
              <a:latin typeface="Geist" charset="0"/>
              <a:ea typeface="Geist" charset="0"/>
              <a:cs typeface="Geist" charset="0"/>
            </a:endParaRPr>
          </a:p>
          <a:p>
            <a:pPr marL="285750" indent="-28575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Geist" charset="0"/>
                <a:ea typeface="Geist" charset="0"/>
                <a:cs typeface="Geist" charset="0"/>
              </a:rPr>
              <a:t> Power BI Dashboard Development</a:t>
            </a:r>
          </a:p>
          <a:p>
            <a:pPr marL="285750" indent="-28575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Geist" charset="0"/>
                <a:ea typeface="Geist" charset="0"/>
                <a:cs typeface="Geist" charset="0"/>
              </a:rPr>
              <a:t> DAX KPI Calculations</a:t>
            </a:r>
          </a:p>
          <a:p>
            <a:pPr marL="285750" indent="-28575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Geist" charset="0"/>
                <a:ea typeface="Geist" charset="0"/>
                <a:cs typeface="Geist" charset="0"/>
              </a:rPr>
              <a:t> Dynamic Row-Level Security (RLS)</a:t>
            </a:r>
          </a:p>
          <a:p>
            <a:pPr marL="285750" indent="-28575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Geist" charset="0"/>
                <a:ea typeface="Geist" charset="0"/>
                <a:cs typeface="Geist" charset="0"/>
              </a:rPr>
              <a:t> Manufacturing Business Insights</a:t>
            </a:r>
          </a:p>
          <a:p>
            <a:endParaRPr lang="en-IN" dirty="0"/>
          </a:p>
        </p:txBody>
      </p:sp>
      <p:sp>
        <p:nvSpPr>
          <p:cNvPr id="14" name="Shape 14">
            <a:extLst>
              <a:ext uri="{FF2B5EF4-FFF2-40B4-BE49-F238E27FC236}">
                <a16:creationId xmlns:a16="http://schemas.microsoft.com/office/drawing/2014/main" id="{E9C8A952-6FED-7F2A-02DB-9F29B24FA5A9}"/>
              </a:ext>
            </a:extLst>
          </p:cNvPr>
          <p:cNvSpPr/>
          <p:nvPr/>
        </p:nvSpPr>
        <p:spPr>
          <a:xfrm>
            <a:off x="2097415" y="4552848"/>
            <a:ext cx="2350889" cy="631745"/>
          </a:xfrm>
          <a:prstGeom prst="roundRect">
            <a:avLst>
              <a:gd name="adj" fmla="val 2902"/>
            </a:avLst>
          </a:prstGeom>
          <a:solidFill>
            <a:srgbClr val="EFE4D4"/>
          </a:solidFill>
          <a:ln/>
        </p:spPr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752727A-C44B-832A-2BE8-102475540611}"/>
              </a:ext>
            </a:extLst>
          </p:cNvPr>
          <p:cNvSpPr txBox="1"/>
          <p:nvPr/>
        </p:nvSpPr>
        <p:spPr>
          <a:xfrm>
            <a:off x="1368201" y="4649149"/>
            <a:ext cx="36576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dirty="0">
                <a:latin typeface="Geist Mono Medium" panose="020B0604020202020204" charset="0"/>
                <a:ea typeface="Geist Mono Medium" panose="020B0604020202020204" charset="0"/>
                <a:cs typeface="Geist Mono Medium" panose="020B0604020202020204" charset="0"/>
              </a:rPr>
              <a:t>Thank You</a:t>
            </a:r>
          </a:p>
          <a:p>
            <a:pPr algn="ctr"/>
            <a:endParaRPr lang="en-IN" sz="2800" dirty="0">
              <a:latin typeface="Geist Mono Medium" panose="020B0604020202020204" charset="0"/>
              <a:ea typeface="Geist Mono Medium" panose="020B0604020202020204" charset="0"/>
              <a:cs typeface="Geist Mono Medium" panose="020B0604020202020204" charset="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508B13A9-2D6F-5273-ED1A-62A2A6D737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8162" y="1370347"/>
            <a:ext cx="5596077" cy="4489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61856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256</TotalTime>
  <Words>951</Words>
  <Application>Microsoft Office PowerPoint</Application>
  <PresentationFormat>Widescreen</PresentationFormat>
  <Paragraphs>223</Paragraphs>
  <Slides>15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4" baseType="lpstr">
      <vt:lpstr>Geist Mono Medium</vt:lpstr>
      <vt:lpstr>Geist Mono</vt:lpstr>
      <vt:lpstr>Geist Medium</vt:lpstr>
      <vt:lpstr>Geist Bold</vt:lpstr>
      <vt:lpstr>Geist SemiBold</vt:lpstr>
      <vt:lpstr>Segoe UI</vt:lpstr>
      <vt:lpstr>Arial</vt:lpstr>
      <vt:lpstr>Geist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 manikandan</dc:creator>
  <cp:lastModifiedBy>s manikandan</cp:lastModifiedBy>
  <cp:revision>3</cp:revision>
  <dcterms:created xsi:type="dcterms:W3CDTF">2026-10-29T13:07:47Z</dcterms:created>
  <dcterms:modified xsi:type="dcterms:W3CDTF">2026-10-29T17:26:48Z</dcterms:modified>
</cp:coreProperties>
</file>